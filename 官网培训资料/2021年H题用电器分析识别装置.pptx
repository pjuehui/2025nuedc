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3" r:id="rId7"/>
    <p:sldId id="264" r:id="rId8"/>
    <p:sldId id="265" r:id="rId9"/>
    <p:sldId id="266" r:id="rId10"/>
    <p:sldId id="261" r:id="rId11"/>
    <p:sldId id="267" r:id="rId12"/>
    <p:sldId id="268" r:id="rId13"/>
    <p:sldId id="269"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50" y="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B3C433-5BA2-43A7-887B-1A616416441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E223EFC-6688-4FAD-8E1D-38C1D83A22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212E29D-741F-4F6D-A96B-916156363530}"/>
              </a:ext>
            </a:extLst>
          </p:cNvPr>
          <p:cNvSpPr>
            <a:spLocks noGrp="1"/>
          </p:cNvSpPr>
          <p:nvPr>
            <p:ph type="dt" sz="half" idx="10"/>
          </p:nvPr>
        </p:nvSpPr>
        <p:spPr/>
        <p:txBody>
          <a:bodyPr/>
          <a:lstStyle/>
          <a:p>
            <a:fld id="{0725E32C-FAC2-4F9C-9C75-FBAC6B713CDD}" type="datetimeFigureOut">
              <a:rPr lang="zh-CN" altLang="en-US" smtClean="0"/>
              <a:t>2022/1/28</a:t>
            </a:fld>
            <a:endParaRPr lang="zh-CN" altLang="en-US"/>
          </a:p>
        </p:txBody>
      </p:sp>
      <p:sp>
        <p:nvSpPr>
          <p:cNvPr id="5" name="页脚占位符 4">
            <a:extLst>
              <a:ext uri="{FF2B5EF4-FFF2-40B4-BE49-F238E27FC236}">
                <a16:creationId xmlns:a16="http://schemas.microsoft.com/office/drawing/2014/main" id="{C4D2379F-FB44-4887-971C-8D7C2C09155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067F145-84DE-47B1-817A-9DEF6D0815FE}"/>
              </a:ext>
            </a:extLst>
          </p:cNvPr>
          <p:cNvSpPr>
            <a:spLocks noGrp="1"/>
          </p:cNvSpPr>
          <p:nvPr>
            <p:ph type="sldNum" sz="quarter" idx="12"/>
          </p:nvPr>
        </p:nvSpPr>
        <p:spPr/>
        <p:txBody>
          <a:bodyPr/>
          <a:lstStyle/>
          <a:p>
            <a:fld id="{1180D9A9-BE7B-42EC-87F4-A6F779FE3A35}" type="slidenum">
              <a:rPr lang="zh-CN" altLang="en-US" smtClean="0"/>
              <a:t>‹#›</a:t>
            </a:fld>
            <a:endParaRPr lang="zh-CN" altLang="en-US"/>
          </a:p>
        </p:txBody>
      </p:sp>
    </p:spTree>
    <p:extLst>
      <p:ext uri="{BB962C8B-B14F-4D97-AF65-F5344CB8AC3E}">
        <p14:creationId xmlns:p14="http://schemas.microsoft.com/office/powerpoint/2010/main" val="1134785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4500DB-877E-449A-9CB0-DB78FD83E7F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7DD36AC-ED46-492F-8890-8F1690ACAD4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1EFCA0A-001D-4DA9-B4F8-E8FF1387EE1A}"/>
              </a:ext>
            </a:extLst>
          </p:cNvPr>
          <p:cNvSpPr>
            <a:spLocks noGrp="1"/>
          </p:cNvSpPr>
          <p:nvPr>
            <p:ph type="dt" sz="half" idx="10"/>
          </p:nvPr>
        </p:nvSpPr>
        <p:spPr/>
        <p:txBody>
          <a:bodyPr/>
          <a:lstStyle/>
          <a:p>
            <a:fld id="{0725E32C-FAC2-4F9C-9C75-FBAC6B713CDD}" type="datetimeFigureOut">
              <a:rPr lang="zh-CN" altLang="en-US" smtClean="0"/>
              <a:t>2022/1/28</a:t>
            </a:fld>
            <a:endParaRPr lang="zh-CN" altLang="en-US"/>
          </a:p>
        </p:txBody>
      </p:sp>
      <p:sp>
        <p:nvSpPr>
          <p:cNvPr id="5" name="页脚占位符 4">
            <a:extLst>
              <a:ext uri="{FF2B5EF4-FFF2-40B4-BE49-F238E27FC236}">
                <a16:creationId xmlns:a16="http://schemas.microsoft.com/office/drawing/2014/main" id="{7BD9B3A1-B8CF-4329-9075-12F9F8662AE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D44A176-E4F6-437F-8115-35E09521C162}"/>
              </a:ext>
            </a:extLst>
          </p:cNvPr>
          <p:cNvSpPr>
            <a:spLocks noGrp="1"/>
          </p:cNvSpPr>
          <p:nvPr>
            <p:ph type="sldNum" sz="quarter" idx="12"/>
          </p:nvPr>
        </p:nvSpPr>
        <p:spPr/>
        <p:txBody>
          <a:bodyPr/>
          <a:lstStyle/>
          <a:p>
            <a:fld id="{1180D9A9-BE7B-42EC-87F4-A6F779FE3A35}" type="slidenum">
              <a:rPr lang="zh-CN" altLang="en-US" smtClean="0"/>
              <a:t>‹#›</a:t>
            </a:fld>
            <a:endParaRPr lang="zh-CN" altLang="en-US"/>
          </a:p>
        </p:txBody>
      </p:sp>
    </p:spTree>
    <p:extLst>
      <p:ext uri="{BB962C8B-B14F-4D97-AF65-F5344CB8AC3E}">
        <p14:creationId xmlns:p14="http://schemas.microsoft.com/office/powerpoint/2010/main" val="3185274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83D1A8-1C31-4508-AE3A-077CE3C3E88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CB155D4-F7D1-4F21-941B-526EA41865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9CD63CD-A575-4954-8985-121FEBAA712E}"/>
              </a:ext>
            </a:extLst>
          </p:cNvPr>
          <p:cNvSpPr>
            <a:spLocks noGrp="1"/>
          </p:cNvSpPr>
          <p:nvPr>
            <p:ph type="dt" sz="half" idx="10"/>
          </p:nvPr>
        </p:nvSpPr>
        <p:spPr/>
        <p:txBody>
          <a:bodyPr/>
          <a:lstStyle/>
          <a:p>
            <a:fld id="{0725E32C-FAC2-4F9C-9C75-FBAC6B713CDD}" type="datetimeFigureOut">
              <a:rPr lang="zh-CN" altLang="en-US" smtClean="0"/>
              <a:t>2022/1/28</a:t>
            </a:fld>
            <a:endParaRPr lang="zh-CN" altLang="en-US"/>
          </a:p>
        </p:txBody>
      </p:sp>
      <p:sp>
        <p:nvSpPr>
          <p:cNvPr id="5" name="页脚占位符 4">
            <a:extLst>
              <a:ext uri="{FF2B5EF4-FFF2-40B4-BE49-F238E27FC236}">
                <a16:creationId xmlns:a16="http://schemas.microsoft.com/office/drawing/2014/main" id="{0B676269-B608-41E8-9BE7-467F91A7969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07A3AE9-D81B-4368-91B3-91A59F5F3133}"/>
              </a:ext>
            </a:extLst>
          </p:cNvPr>
          <p:cNvSpPr>
            <a:spLocks noGrp="1"/>
          </p:cNvSpPr>
          <p:nvPr>
            <p:ph type="sldNum" sz="quarter" idx="12"/>
          </p:nvPr>
        </p:nvSpPr>
        <p:spPr/>
        <p:txBody>
          <a:bodyPr/>
          <a:lstStyle/>
          <a:p>
            <a:fld id="{1180D9A9-BE7B-42EC-87F4-A6F779FE3A35}" type="slidenum">
              <a:rPr lang="zh-CN" altLang="en-US" smtClean="0"/>
              <a:t>‹#›</a:t>
            </a:fld>
            <a:endParaRPr lang="zh-CN" altLang="en-US"/>
          </a:p>
        </p:txBody>
      </p:sp>
    </p:spTree>
    <p:extLst>
      <p:ext uri="{BB962C8B-B14F-4D97-AF65-F5344CB8AC3E}">
        <p14:creationId xmlns:p14="http://schemas.microsoft.com/office/powerpoint/2010/main" val="3336918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55B38F-DC84-4974-A00E-8892FA7E963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349D802-0C87-4422-9EA7-BD098A208C4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AEA79FE-34B1-46E9-8E7F-E8D5DCFE71A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97FC22E-CED4-4E24-A2A6-522195543C87}"/>
              </a:ext>
            </a:extLst>
          </p:cNvPr>
          <p:cNvSpPr>
            <a:spLocks noGrp="1"/>
          </p:cNvSpPr>
          <p:nvPr>
            <p:ph type="dt" sz="half" idx="10"/>
          </p:nvPr>
        </p:nvSpPr>
        <p:spPr/>
        <p:txBody>
          <a:bodyPr/>
          <a:lstStyle/>
          <a:p>
            <a:fld id="{0725E32C-FAC2-4F9C-9C75-FBAC6B713CDD}" type="datetimeFigureOut">
              <a:rPr lang="zh-CN" altLang="en-US" smtClean="0"/>
              <a:t>2022/1/28</a:t>
            </a:fld>
            <a:endParaRPr lang="zh-CN" altLang="en-US"/>
          </a:p>
        </p:txBody>
      </p:sp>
      <p:sp>
        <p:nvSpPr>
          <p:cNvPr id="6" name="页脚占位符 5">
            <a:extLst>
              <a:ext uri="{FF2B5EF4-FFF2-40B4-BE49-F238E27FC236}">
                <a16:creationId xmlns:a16="http://schemas.microsoft.com/office/drawing/2014/main" id="{747E6E6E-26C0-46D0-A941-2D576279CBF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00466DC-0643-4F11-B09A-35471EE26CDB}"/>
              </a:ext>
            </a:extLst>
          </p:cNvPr>
          <p:cNvSpPr>
            <a:spLocks noGrp="1"/>
          </p:cNvSpPr>
          <p:nvPr>
            <p:ph type="sldNum" sz="quarter" idx="12"/>
          </p:nvPr>
        </p:nvSpPr>
        <p:spPr/>
        <p:txBody>
          <a:bodyPr/>
          <a:lstStyle/>
          <a:p>
            <a:fld id="{1180D9A9-BE7B-42EC-87F4-A6F779FE3A35}" type="slidenum">
              <a:rPr lang="zh-CN" altLang="en-US" smtClean="0"/>
              <a:t>‹#›</a:t>
            </a:fld>
            <a:endParaRPr lang="zh-CN" altLang="en-US"/>
          </a:p>
        </p:txBody>
      </p:sp>
    </p:spTree>
    <p:extLst>
      <p:ext uri="{BB962C8B-B14F-4D97-AF65-F5344CB8AC3E}">
        <p14:creationId xmlns:p14="http://schemas.microsoft.com/office/powerpoint/2010/main" val="3347819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DA6AE4-2856-4930-A080-121B4DA9B50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51B5DF3-18DE-452D-AE35-FD3761CFA9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7CE19FB-E280-4970-9BA6-E981CC7118B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491740D-8E20-46CA-AAFC-4918B4918F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754BB0B-801E-4E28-84E3-370F665EA25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A554AC7-CFB9-46AA-883B-F23E9ED6CC8B}"/>
              </a:ext>
            </a:extLst>
          </p:cNvPr>
          <p:cNvSpPr>
            <a:spLocks noGrp="1"/>
          </p:cNvSpPr>
          <p:nvPr>
            <p:ph type="dt" sz="half" idx="10"/>
          </p:nvPr>
        </p:nvSpPr>
        <p:spPr/>
        <p:txBody>
          <a:bodyPr/>
          <a:lstStyle/>
          <a:p>
            <a:fld id="{0725E32C-FAC2-4F9C-9C75-FBAC6B713CDD}" type="datetimeFigureOut">
              <a:rPr lang="zh-CN" altLang="en-US" smtClean="0"/>
              <a:t>2022/1/28</a:t>
            </a:fld>
            <a:endParaRPr lang="zh-CN" altLang="en-US"/>
          </a:p>
        </p:txBody>
      </p:sp>
      <p:sp>
        <p:nvSpPr>
          <p:cNvPr id="8" name="页脚占位符 7">
            <a:extLst>
              <a:ext uri="{FF2B5EF4-FFF2-40B4-BE49-F238E27FC236}">
                <a16:creationId xmlns:a16="http://schemas.microsoft.com/office/drawing/2014/main" id="{62A6EA87-7778-4718-882B-9A5286766AD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477ED14-3A18-4374-8741-E0ECA48E8A8E}"/>
              </a:ext>
            </a:extLst>
          </p:cNvPr>
          <p:cNvSpPr>
            <a:spLocks noGrp="1"/>
          </p:cNvSpPr>
          <p:nvPr>
            <p:ph type="sldNum" sz="quarter" idx="12"/>
          </p:nvPr>
        </p:nvSpPr>
        <p:spPr/>
        <p:txBody>
          <a:bodyPr/>
          <a:lstStyle/>
          <a:p>
            <a:fld id="{1180D9A9-BE7B-42EC-87F4-A6F779FE3A35}" type="slidenum">
              <a:rPr lang="zh-CN" altLang="en-US" smtClean="0"/>
              <a:t>‹#›</a:t>
            </a:fld>
            <a:endParaRPr lang="zh-CN" altLang="en-US"/>
          </a:p>
        </p:txBody>
      </p:sp>
    </p:spTree>
    <p:extLst>
      <p:ext uri="{BB962C8B-B14F-4D97-AF65-F5344CB8AC3E}">
        <p14:creationId xmlns:p14="http://schemas.microsoft.com/office/powerpoint/2010/main" val="2944634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657623-EF3D-4058-A01B-A210B7E5C70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02B7A80-07F1-4367-8CE2-0B711EE4E5F1}"/>
              </a:ext>
            </a:extLst>
          </p:cNvPr>
          <p:cNvSpPr>
            <a:spLocks noGrp="1"/>
          </p:cNvSpPr>
          <p:nvPr>
            <p:ph type="dt" sz="half" idx="10"/>
          </p:nvPr>
        </p:nvSpPr>
        <p:spPr/>
        <p:txBody>
          <a:bodyPr/>
          <a:lstStyle/>
          <a:p>
            <a:fld id="{0725E32C-FAC2-4F9C-9C75-FBAC6B713CDD}" type="datetimeFigureOut">
              <a:rPr lang="zh-CN" altLang="en-US" smtClean="0"/>
              <a:t>2022/1/28</a:t>
            </a:fld>
            <a:endParaRPr lang="zh-CN" altLang="en-US"/>
          </a:p>
        </p:txBody>
      </p:sp>
      <p:sp>
        <p:nvSpPr>
          <p:cNvPr id="4" name="页脚占位符 3">
            <a:extLst>
              <a:ext uri="{FF2B5EF4-FFF2-40B4-BE49-F238E27FC236}">
                <a16:creationId xmlns:a16="http://schemas.microsoft.com/office/drawing/2014/main" id="{60C67B1B-4CEB-4117-B79D-0A4363B6EFD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7858100-A366-4024-A0CF-CA40E131F47E}"/>
              </a:ext>
            </a:extLst>
          </p:cNvPr>
          <p:cNvSpPr>
            <a:spLocks noGrp="1"/>
          </p:cNvSpPr>
          <p:nvPr>
            <p:ph type="sldNum" sz="quarter" idx="12"/>
          </p:nvPr>
        </p:nvSpPr>
        <p:spPr/>
        <p:txBody>
          <a:bodyPr/>
          <a:lstStyle/>
          <a:p>
            <a:fld id="{1180D9A9-BE7B-42EC-87F4-A6F779FE3A35}" type="slidenum">
              <a:rPr lang="zh-CN" altLang="en-US" smtClean="0"/>
              <a:t>‹#›</a:t>
            </a:fld>
            <a:endParaRPr lang="zh-CN" altLang="en-US"/>
          </a:p>
        </p:txBody>
      </p:sp>
    </p:spTree>
    <p:extLst>
      <p:ext uri="{BB962C8B-B14F-4D97-AF65-F5344CB8AC3E}">
        <p14:creationId xmlns:p14="http://schemas.microsoft.com/office/powerpoint/2010/main" val="2152647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9301043-4ED9-4DD9-8E8A-013FD420E8C7}"/>
              </a:ext>
            </a:extLst>
          </p:cNvPr>
          <p:cNvSpPr>
            <a:spLocks noGrp="1"/>
          </p:cNvSpPr>
          <p:nvPr>
            <p:ph type="dt" sz="half" idx="10"/>
          </p:nvPr>
        </p:nvSpPr>
        <p:spPr/>
        <p:txBody>
          <a:bodyPr/>
          <a:lstStyle/>
          <a:p>
            <a:fld id="{0725E32C-FAC2-4F9C-9C75-FBAC6B713CDD}" type="datetimeFigureOut">
              <a:rPr lang="zh-CN" altLang="en-US" smtClean="0"/>
              <a:t>2022/1/28</a:t>
            </a:fld>
            <a:endParaRPr lang="zh-CN" altLang="en-US"/>
          </a:p>
        </p:txBody>
      </p:sp>
      <p:sp>
        <p:nvSpPr>
          <p:cNvPr id="3" name="页脚占位符 2">
            <a:extLst>
              <a:ext uri="{FF2B5EF4-FFF2-40B4-BE49-F238E27FC236}">
                <a16:creationId xmlns:a16="http://schemas.microsoft.com/office/drawing/2014/main" id="{AD6D4E52-5CA2-4ED9-8324-80D53EFA9AD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DE813CD-A947-45D8-9C37-8941E270E83F}"/>
              </a:ext>
            </a:extLst>
          </p:cNvPr>
          <p:cNvSpPr>
            <a:spLocks noGrp="1"/>
          </p:cNvSpPr>
          <p:nvPr>
            <p:ph type="sldNum" sz="quarter" idx="12"/>
          </p:nvPr>
        </p:nvSpPr>
        <p:spPr/>
        <p:txBody>
          <a:bodyPr/>
          <a:lstStyle/>
          <a:p>
            <a:fld id="{1180D9A9-BE7B-42EC-87F4-A6F779FE3A35}" type="slidenum">
              <a:rPr lang="zh-CN" altLang="en-US" smtClean="0"/>
              <a:t>‹#›</a:t>
            </a:fld>
            <a:endParaRPr lang="zh-CN" altLang="en-US"/>
          </a:p>
        </p:txBody>
      </p:sp>
    </p:spTree>
    <p:extLst>
      <p:ext uri="{BB962C8B-B14F-4D97-AF65-F5344CB8AC3E}">
        <p14:creationId xmlns:p14="http://schemas.microsoft.com/office/powerpoint/2010/main" val="3158610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70787D-8CB5-44F3-8CF6-F49E679D4DC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6B70E19-FDC9-4A37-BC15-B6D0A27231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7047767-893E-4804-8FC2-881C9BE6A0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8A669C2-157C-40DC-9D37-0E1BB3468CE3}"/>
              </a:ext>
            </a:extLst>
          </p:cNvPr>
          <p:cNvSpPr>
            <a:spLocks noGrp="1"/>
          </p:cNvSpPr>
          <p:nvPr>
            <p:ph type="dt" sz="half" idx="10"/>
          </p:nvPr>
        </p:nvSpPr>
        <p:spPr/>
        <p:txBody>
          <a:bodyPr/>
          <a:lstStyle/>
          <a:p>
            <a:fld id="{0725E32C-FAC2-4F9C-9C75-FBAC6B713CDD}" type="datetimeFigureOut">
              <a:rPr lang="zh-CN" altLang="en-US" smtClean="0"/>
              <a:t>2022/1/28</a:t>
            </a:fld>
            <a:endParaRPr lang="zh-CN" altLang="en-US"/>
          </a:p>
        </p:txBody>
      </p:sp>
      <p:sp>
        <p:nvSpPr>
          <p:cNvPr id="6" name="页脚占位符 5">
            <a:extLst>
              <a:ext uri="{FF2B5EF4-FFF2-40B4-BE49-F238E27FC236}">
                <a16:creationId xmlns:a16="http://schemas.microsoft.com/office/drawing/2014/main" id="{FBFF2DCF-8F6D-46DD-A458-20DA1E9404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F635017-0D5F-44AF-BBB6-C2AD7BE9B785}"/>
              </a:ext>
            </a:extLst>
          </p:cNvPr>
          <p:cNvSpPr>
            <a:spLocks noGrp="1"/>
          </p:cNvSpPr>
          <p:nvPr>
            <p:ph type="sldNum" sz="quarter" idx="12"/>
          </p:nvPr>
        </p:nvSpPr>
        <p:spPr/>
        <p:txBody>
          <a:bodyPr/>
          <a:lstStyle/>
          <a:p>
            <a:fld id="{1180D9A9-BE7B-42EC-87F4-A6F779FE3A35}" type="slidenum">
              <a:rPr lang="zh-CN" altLang="en-US" smtClean="0"/>
              <a:t>‹#›</a:t>
            </a:fld>
            <a:endParaRPr lang="zh-CN" altLang="en-US"/>
          </a:p>
        </p:txBody>
      </p:sp>
    </p:spTree>
    <p:extLst>
      <p:ext uri="{BB962C8B-B14F-4D97-AF65-F5344CB8AC3E}">
        <p14:creationId xmlns:p14="http://schemas.microsoft.com/office/powerpoint/2010/main" val="4137423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9D01DF-425E-4F76-8E9C-1D5D88C62BC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3A20EC6-0AE5-44AB-AF85-C9CFE7718D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9A81145-E1AB-485C-AFDA-873BEA281C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977C6A7-AC34-4E34-BD5E-BC556072368C}"/>
              </a:ext>
            </a:extLst>
          </p:cNvPr>
          <p:cNvSpPr>
            <a:spLocks noGrp="1"/>
          </p:cNvSpPr>
          <p:nvPr>
            <p:ph type="dt" sz="half" idx="10"/>
          </p:nvPr>
        </p:nvSpPr>
        <p:spPr/>
        <p:txBody>
          <a:bodyPr/>
          <a:lstStyle/>
          <a:p>
            <a:fld id="{0725E32C-FAC2-4F9C-9C75-FBAC6B713CDD}" type="datetimeFigureOut">
              <a:rPr lang="zh-CN" altLang="en-US" smtClean="0"/>
              <a:t>2022/1/28</a:t>
            </a:fld>
            <a:endParaRPr lang="zh-CN" altLang="en-US"/>
          </a:p>
        </p:txBody>
      </p:sp>
      <p:sp>
        <p:nvSpPr>
          <p:cNvPr id="6" name="页脚占位符 5">
            <a:extLst>
              <a:ext uri="{FF2B5EF4-FFF2-40B4-BE49-F238E27FC236}">
                <a16:creationId xmlns:a16="http://schemas.microsoft.com/office/drawing/2014/main" id="{CD489E07-1D7F-4A37-965C-D66EE50F634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02E34B2-CAF1-49AD-BA89-5C630DCEBB32}"/>
              </a:ext>
            </a:extLst>
          </p:cNvPr>
          <p:cNvSpPr>
            <a:spLocks noGrp="1"/>
          </p:cNvSpPr>
          <p:nvPr>
            <p:ph type="sldNum" sz="quarter" idx="12"/>
          </p:nvPr>
        </p:nvSpPr>
        <p:spPr/>
        <p:txBody>
          <a:bodyPr/>
          <a:lstStyle/>
          <a:p>
            <a:fld id="{1180D9A9-BE7B-42EC-87F4-A6F779FE3A35}" type="slidenum">
              <a:rPr lang="zh-CN" altLang="en-US" smtClean="0"/>
              <a:t>‹#›</a:t>
            </a:fld>
            <a:endParaRPr lang="zh-CN" altLang="en-US"/>
          </a:p>
        </p:txBody>
      </p:sp>
    </p:spTree>
    <p:extLst>
      <p:ext uri="{BB962C8B-B14F-4D97-AF65-F5344CB8AC3E}">
        <p14:creationId xmlns:p14="http://schemas.microsoft.com/office/powerpoint/2010/main" val="505721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55C422-E071-4B1A-8524-1311A41090E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DFD61FB-F1BB-4A88-9C04-F7CDD824613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030D459-8EFF-4B30-8722-F2373FE0A3A4}"/>
              </a:ext>
            </a:extLst>
          </p:cNvPr>
          <p:cNvSpPr>
            <a:spLocks noGrp="1"/>
          </p:cNvSpPr>
          <p:nvPr>
            <p:ph type="dt" sz="half" idx="10"/>
          </p:nvPr>
        </p:nvSpPr>
        <p:spPr/>
        <p:txBody>
          <a:bodyPr/>
          <a:lstStyle/>
          <a:p>
            <a:fld id="{0725E32C-FAC2-4F9C-9C75-FBAC6B713CDD}" type="datetimeFigureOut">
              <a:rPr lang="zh-CN" altLang="en-US" smtClean="0"/>
              <a:t>2022/1/28</a:t>
            </a:fld>
            <a:endParaRPr lang="zh-CN" altLang="en-US"/>
          </a:p>
        </p:txBody>
      </p:sp>
      <p:sp>
        <p:nvSpPr>
          <p:cNvPr id="5" name="页脚占位符 4">
            <a:extLst>
              <a:ext uri="{FF2B5EF4-FFF2-40B4-BE49-F238E27FC236}">
                <a16:creationId xmlns:a16="http://schemas.microsoft.com/office/drawing/2014/main" id="{52CC3161-9F83-450B-BA59-C89B0EF84E8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07019F7-87C4-4DE6-963A-713BB9529FD2}"/>
              </a:ext>
            </a:extLst>
          </p:cNvPr>
          <p:cNvSpPr>
            <a:spLocks noGrp="1"/>
          </p:cNvSpPr>
          <p:nvPr>
            <p:ph type="sldNum" sz="quarter" idx="12"/>
          </p:nvPr>
        </p:nvSpPr>
        <p:spPr/>
        <p:txBody>
          <a:bodyPr/>
          <a:lstStyle/>
          <a:p>
            <a:fld id="{1180D9A9-BE7B-42EC-87F4-A6F779FE3A35}" type="slidenum">
              <a:rPr lang="zh-CN" altLang="en-US" smtClean="0"/>
              <a:t>‹#›</a:t>
            </a:fld>
            <a:endParaRPr lang="zh-CN" altLang="en-US"/>
          </a:p>
        </p:txBody>
      </p:sp>
    </p:spTree>
    <p:extLst>
      <p:ext uri="{BB962C8B-B14F-4D97-AF65-F5344CB8AC3E}">
        <p14:creationId xmlns:p14="http://schemas.microsoft.com/office/powerpoint/2010/main" val="3762278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B0A8804-6234-49FE-B70A-F9589F079C4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076F23B-AD29-41EF-8ADC-25EB1D184E8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4FCE3ED-E031-4320-B972-B6A98FB48881}"/>
              </a:ext>
            </a:extLst>
          </p:cNvPr>
          <p:cNvSpPr>
            <a:spLocks noGrp="1"/>
          </p:cNvSpPr>
          <p:nvPr>
            <p:ph type="dt" sz="half" idx="10"/>
          </p:nvPr>
        </p:nvSpPr>
        <p:spPr/>
        <p:txBody>
          <a:bodyPr/>
          <a:lstStyle/>
          <a:p>
            <a:fld id="{0725E32C-FAC2-4F9C-9C75-FBAC6B713CDD}" type="datetimeFigureOut">
              <a:rPr lang="zh-CN" altLang="en-US" smtClean="0"/>
              <a:t>2022/1/28</a:t>
            </a:fld>
            <a:endParaRPr lang="zh-CN" altLang="en-US"/>
          </a:p>
        </p:txBody>
      </p:sp>
      <p:sp>
        <p:nvSpPr>
          <p:cNvPr id="5" name="页脚占位符 4">
            <a:extLst>
              <a:ext uri="{FF2B5EF4-FFF2-40B4-BE49-F238E27FC236}">
                <a16:creationId xmlns:a16="http://schemas.microsoft.com/office/drawing/2014/main" id="{58CC999C-A5AB-4DAF-ADF6-8BAE84C6E55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5430218-9BF3-42CC-9223-166CC90B9BAB}"/>
              </a:ext>
            </a:extLst>
          </p:cNvPr>
          <p:cNvSpPr>
            <a:spLocks noGrp="1"/>
          </p:cNvSpPr>
          <p:nvPr>
            <p:ph type="sldNum" sz="quarter" idx="12"/>
          </p:nvPr>
        </p:nvSpPr>
        <p:spPr/>
        <p:txBody>
          <a:bodyPr/>
          <a:lstStyle/>
          <a:p>
            <a:fld id="{1180D9A9-BE7B-42EC-87F4-A6F779FE3A35}" type="slidenum">
              <a:rPr lang="zh-CN" altLang="en-US" smtClean="0"/>
              <a:t>‹#›</a:t>
            </a:fld>
            <a:endParaRPr lang="zh-CN" altLang="en-US"/>
          </a:p>
        </p:txBody>
      </p:sp>
    </p:spTree>
    <p:extLst>
      <p:ext uri="{BB962C8B-B14F-4D97-AF65-F5344CB8AC3E}">
        <p14:creationId xmlns:p14="http://schemas.microsoft.com/office/powerpoint/2010/main" val="201764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71FE2C4-A9EB-4068-8356-F5097DCA96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8A163D1-C047-456F-A97B-01A4BE8E50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794DC1D-62A1-45F5-90DE-AC2C4E4AEB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25E32C-FAC2-4F9C-9C75-FBAC6B713CDD}" type="datetimeFigureOut">
              <a:rPr lang="zh-CN" altLang="en-US" smtClean="0"/>
              <a:t>2022/1/28</a:t>
            </a:fld>
            <a:endParaRPr lang="zh-CN" altLang="en-US"/>
          </a:p>
        </p:txBody>
      </p:sp>
      <p:sp>
        <p:nvSpPr>
          <p:cNvPr id="5" name="页脚占位符 4">
            <a:extLst>
              <a:ext uri="{FF2B5EF4-FFF2-40B4-BE49-F238E27FC236}">
                <a16:creationId xmlns:a16="http://schemas.microsoft.com/office/drawing/2014/main" id="{8BA16EB4-BB02-49C0-B3ED-4EFF4BB09A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44FD42E-58A1-4F72-90C7-7F731A9820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80D9A9-BE7B-42EC-87F4-A6F779FE3A35}" type="slidenum">
              <a:rPr lang="zh-CN" altLang="en-US" smtClean="0"/>
              <a:t>‹#›</a:t>
            </a:fld>
            <a:endParaRPr lang="zh-CN" altLang="en-US"/>
          </a:p>
        </p:txBody>
      </p:sp>
    </p:spTree>
    <p:extLst>
      <p:ext uri="{BB962C8B-B14F-4D97-AF65-F5344CB8AC3E}">
        <p14:creationId xmlns:p14="http://schemas.microsoft.com/office/powerpoint/2010/main" val="18524660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491D7E-A04A-407F-88C3-9B00C2980AD1}"/>
              </a:ext>
            </a:extLst>
          </p:cNvPr>
          <p:cNvSpPr>
            <a:spLocks noGrp="1"/>
          </p:cNvSpPr>
          <p:nvPr>
            <p:ph type="ctrTitle"/>
          </p:nvPr>
        </p:nvSpPr>
        <p:spPr>
          <a:xfrm>
            <a:off x="1568726" y="1214438"/>
            <a:ext cx="9144000" cy="2387600"/>
          </a:xfrm>
        </p:spPr>
        <p:txBody>
          <a:bodyPr anchor="ctr">
            <a:normAutofit/>
          </a:bodyPr>
          <a:lstStyle/>
          <a:p>
            <a:r>
              <a:rPr lang="zh-CN" altLang="en-US" sz="3200" b="1" kern="100" dirty="0">
                <a:effectLst/>
                <a:ea typeface="华文中宋" panose="02010600040101010101" pitchFamily="2" charset="-122"/>
                <a:cs typeface="Times New Roman" panose="02020603050405020304" pitchFamily="18" charset="0"/>
              </a:rPr>
              <a:t>“</a:t>
            </a:r>
            <a:r>
              <a:rPr lang="zh-CN" altLang="zh-CN" sz="3200" b="1" kern="100" dirty="0">
                <a:effectLst/>
                <a:ea typeface="华文中宋" panose="02010600040101010101" pitchFamily="2" charset="-122"/>
                <a:cs typeface="Times New Roman" panose="02020603050405020304" pitchFamily="18" charset="0"/>
              </a:rPr>
              <a:t>用电器分析识别装置</a:t>
            </a:r>
            <a:r>
              <a:rPr lang="zh-CN" altLang="en-US" sz="3200" b="1" kern="100" dirty="0">
                <a:effectLst/>
                <a:ea typeface="华文中宋" panose="02010600040101010101" pitchFamily="2" charset="-122"/>
                <a:cs typeface="Times New Roman" panose="02020603050405020304" pitchFamily="18" charset="0"/>
              </a:rPr>
              <a:t>”设计分析</a:t>
            </a:r>
            <a:endParaRPr lang="zh-CN" altLang="en-US" sz="3200" dirty="0"/>
          </a:p>
        </p:txBody>
      </p:sp>
      <p:sp>
        <p:nvSpPr>
          <p:cNvPr id="3" name="副标题 2">
            <a:extLst>
              <a:ext uri="{FF2B5EF4-FFF2-40B4-BE49-F238E27FC236}">
                <a16:creationId xmlns:a16="http://schemas.microsoft.com/office/drawing/2014/main" id="{31BF65BD-A205-4F74-B11B-8D933A6C3589}"/>
              </a:ext>
            </a:extLst>
          </p:cNvPr>
          <p:cNvSpPr>
            <a:spLocks noGrp="1"/>
          </p:cNvSpPr>
          <p:nvPr>
            <p:ph type="subTitle" idx="1"/>
          </p:nvPr>
        </p:nvSpPr>
        <p:spPr/>
        <p:txBody>
          <a:bodyPr/>
          <a:lstStyle/>
          <a:p>
            <a:r>
              <a:rPr lang="en-US" altLang="zh-CN" dirty="0"/>
              <a:t> </a:t>
            </a:r>
            <a:endParaRPr lang="zh-CN" altLang="en-US" dirty="0"/>
          </a:p>
        </p:txBody>
      </p:sp>
      <p:sp>
        <p:nvSpPr>
          <p:cNvPr id="5" name="文本框 4">
            <a:extLst>
              <a:ext uri="{FF2B5EF4-FFF2-40B4-BE49-F238E27FC236}">
                <a16:creationId xmlns:a16="http://schemas.microsoft.com/office/drawing/2014/main" id="{95EC00D3-3F4A-458C-8F1F-E0D18116F93A}"/>
              </a:ext>
            </a:extLst>
          </p:cNvPr>
          <p:cNvSpPr txBox="1"/>
          <p:nvPr/>
        </p:nvSpPr>
        <p:spPr>
          <a:xfrm>
            <a:off x="1798982" y="3652188"/>
            <a:ext cx="9501809" cy="1891993"/>
          </a:xfrm>
          <a:prstGeom prst="rect">
            <a:avLst/>
          </a:prstGeom>
          <a:noFill/>
        </p:spPr>
        <p:txBody>
          <a:bodyPr wrap="square">
            <a:spAutoFit/>
          </a:bodyPr>
          <a:lstStyle/>
          <a:p>
            <a:pPr marL="12065" indent="254635" algn="just">
              <a:lnSpc>
                <a:spcPct val="125000"/>
              </a:lnSpc>
            </a:pPr>
            <a:r>
              <a:rPr lang="zh-CN" altLang="en-US" sz="2400" kern="100" dirty="0">
                <a:solidFill>
                  <a:srgbClr val="000000"/>
                </a:solidFill>
                <a:latin typeface="Times New Roman" panose="02020603050405020304" pitchFamily="18" charset="0"/>
                <a:ea typeface="宋体" panose="02010600030101010101" pitchFamily="2" charset="-122"/>
              </a:rPr>
              <a:t>任务</a:t>
            </a:r>
            <a:r>
              <a:rPr lang="zh-CN" altLang="en-US" sz="2400" kern="100" dirty="0">
                <a:solidFill>
                  <a:srgbClr val="000000"/>
                </a:solidFill>
                <a:effectLst/>
                <a:latin typeface="Times New Roman" panose="02020603050405020304" pitchFamily="18" charset="0"/>
                <a:ea typeface="宋体" panose="02010600030101010101" pitchFamily="2" charset="-122"/>
              </a:rPr>
              <a:t>：</a:t>
            </a:r>
            <a:r>
              <a:rPr lang="zh-CN" altLang="zh-CN" sz="2400" kern="100" dirty="0">
                <a:solidFill>
                  <a:srgbClr val="000000"/>
                </a:solidFill>
                <a:effectLst/>
                <a:latin typeface="Times New Roman" panose="02020603050405020304" pitchFamily="18" charset="0"/>
                <a:ea typeface="宋体" panose="02010600030101010101" pitchFamily="2" charset="-122"/>
              </a:rPr>
              <a:t>设计并制作一个根据电源线电流的电参量信息分析在用电器类别的装置。该装置具有学习和分析识别两种工作模式。在学习模式下，测试并存储用于识别各单件电器的特征参量；在分析识别模式下，实时指示在用电器的类别。</a:t>
            </a:r>
            <a:endParaRPr lang="zh-CN" altLang="zh-CN" sz="24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741619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3CE6DD-84CD-49FA-BFED-8CD21F0C1A82}"/>
              </a:ext>
            </a:extLst>
          </p:cNvPr>
          <p:cNvSpPr>
            <a:spLocks noGrp="1"/>
          </p:cNvSpPr>
          <p:nvPr>
            <p:ph type="title"/>
          </p:nvPr>
        </p:nvSpPr>
        <p:spPr/>
        <p:txBody>
          <a:bodyPr/>
          <a:lstStyle/>
          <a:p>
            <a:r>
              <a:rPr lang="en-US" altLang="zh-CN" dirty="0"/>
              <a:t> </a:t>
            </a:r>
            <a:endParaRPr lang="zh-CN" altLang="en-US" dirty="0"/>
          </a:p>
        </p:txBody>
      </p:sp>
      <p:pic>
        <p:nvPicPr>
          <p:cNvPr id="25" name="内容占位符 24">
            <a:extLst>
              <a:ext uri="{FF2B5EF4-FFF2-40B4-BE49-F238E27FC236}">
                <a16:creationId xmlns:a16="http://schemas.microsoft.com/office/drawing/2014/main" id="{668C29BC-8D1D-4338-8632-70318937E967}"/>
              </a:ext>
            </a:extLst>
          </p:cNvPr>
          <p:cNvPicPr>
            <a:picLocks noGrp="1" noChangeAspect="1"/>
          </p:cNvPicPr>
          <p:nvPr>
            <p:ph idx="1"/>
          </p:nvPr>
        </p:nvPicPr>
        <p:blipFill>
          <a:blip r:embed="rId2"/>
          <a:stretch>
            <a:fillRect/>
          </a:stretch>
        </p:blipFill>
        <p:spPr>
          <a:xfrm>
            <a:off x="1143000" y="1825513"/>
            <a:ext cx="9735378" cy="4903280"/>
          </a:xfrm>
          <a:prstGeom prst="rect">
            <a:avLst/>
          </a:prstGeom>
        </p:spPr>
      </p:pic>
    </p:spTree>
    <p:extLst>
      <p:ext uri="{BB962C8B-B14F-4D97-AF65-F5344CB8AC3E}">
        <p14:creationId xmlns:p14="http://schemas.microsoft.com/office/powerpoint/2010/main" val="720658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5B2C0C-2F44-4459-AA4B-0690F200AE16}"/>
              </a:ext>
            </a:extLst>
          </p:cNvPr>
          <p:cNvSpPr>
            <a:spLocks noGrp="1"/>
          </p:cNvSpPr>
          <p:nvPr>
            <p:ph type="title"/>
          </p:nvPr>
        </p:nvSpPr>
        <p:spPr>
          <a:xfrm>
            <a:off x="1007166" y="119269"/>
            <a:ext cx="10764078" cy="929309"/>
          </a:xfrm>
        </p:spPr>
        <p:txBody>
          <a:bodyPr>
            <a:normAutofit/>
          </a:bodyPr>
          <a:lstStyle/>
          <a:p>
            <a:r>
              <a:rPr lang="en-US" altLang="zh-CN" sz="2400" b="1" dirty="0">
                <a:latin typeface="华文中宋" panose="02010600040101010101" pitchFamily="2" charset="-122"/>
                <a:ea typeface="华文中宋" panose="02010600040101010101" pitchFamily="2" charset="-122"/>
              </a:rPr>
              <a:t>1. </a:t>
            </a:r>
            <a:r>
              <a:rPr lang="zh-CN" altLang="zh-CN" sz="2400" b="1" dirty="0">
                <a:latin typeface="华文中宋" panose="02010600040101010101" pitchFamily="2" charset="-122"/>
                <a:ea typeface="华文中宋" panose="02010600040101010101" pitchFamily="2" charset="-122"/>
              </a:rPr>
              <a:t>基本要求</a:t>
            </a:r>
            <a:endParaRPr lang="zh-CN" altLang="en-US" sz="2400" b="1" dirty="0">
              <a:latin typeface="华文中宋" panose="02010600040101010101" pitchFamily="2" charset="-122"/>
              <a:ea typeface="华文中宋" panose="02010600040101010101" pitchFamily="2" charset="-122"/>
            </a:endParaRPr>
          </a:p>
        </p:txBody>
      </p:sp>
      <p:sp>
        <p:nvSpPr>
          <p:cNvPr id="3" name="内容占位符 2">
            <a:extLst>
              <a:ext uri="{FF2B5EF4-FFF2-40B4-BE49-F238E27FC236}">
                <a16:creationId xmlns:a16="http://schemas.microsoft.com/office/drawing/2014/main" id="{FA6F1C8E-6A61-4E33-833F-99C50983CB77}"/>
              </a:ext>
            </a:extLst>
          </p:cNvPr>
          <p:cNvSpPr>
            <a:spLocks noGrp="1"/>
          </p:cNvSpPr>
          <p:nvPr>
            <p:ph idx="1"/>
          </p:nvPr>
        </p:nvSpPr>
        <p:spPr>
          <a:xfrm>
            <a:off x="1007166" y="1197664"/>
            <a:ext cx="10515600" cy="4969565"/>
          </a:xfrm>
        </p:spPr>
        <p:txBody>
          <a:bodyPr>
            <a:normAutofit/>
          </a:bodyPr>
          <a:lstStyle/>
          <a:p>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1</a:t>
            </a:r>
            <a:r>
              <a:rPr lang="zh-CN" altLang="zh-CN" sz="2400" dirty="0">
                <a:latin typeface="宋体" panose="02010600030101010101" pitchFamily="2" charset="-122"/>
                <a:ea typeface="宋体" panose="02010600030101010101" pitchFamily="2" charset="-122"/>
              </a:rPr>
              <a:t>）电器电流范围 </a:t>
            </a:r>
            <a:r>
              <a:rPr lang="en-US" altLang="zh-CN" sz="2400" dirty="0">
                <a:latin typeface="宋体" panose="02010600030101010101" pitchFamily="2" charset="-122"/>
                <a:ea typeface="宋体" panose="02010600030101010101" pitchFamily="2" charset="-122"/>
              </a:rPr>
              <a:t>5mA ~10.0A</a:t>
            </a:r>
            <a:r>
              <a:rPr lang="zh-CN" altLang="zh-CN" sz="2400" dirty="0">
                <a:latin typeface="宋体" panose="02010600030101010101" pitchFamily="2" charset="-122"/>
                <a:ea typeface="宋体" panose="02010600030101010101" pitchFamily="2" charset="-122"/>
              </a:rPr>
              <a:t>，可包括但不限于以下电器：</a:t>
            </a:r>
            <a:r>
              <a:rPr lang="en-US" altLang="zh-CN" sz="2400" dirty="0">
                <a:latin typeface="宋体" panose="02010600030101010101" pitchFamily="2" charset="-122"/>
                <a:ea typeface="宋体" panose="02010600030101010101" pitchFamily="2" charset="-122"/>
              </a:rPr>
              <a:t>LED</a:t>
            </a:r>
            <a:r>
              <a:rPr lang="zh-CN" altLang="zh-CN" sz="2400" dirty="0">
                <a:latin typeface="宋体" panose="02010600030101010101" pitchFamily="2" charset="-122"/>
                <a:ea typeface="宋体" panose="02010600030101010101" pitchFamily="2" charset="-122"/>
              </a:rPr>
              <a:t>灯泡和</a:t>
            </a:r>
            <a:r>
              <a:rPr lang="en-US" altLang="zh-CN" sz="2400" dirty="0">
                <a:latin typeface="宋体" panose="02010600030101010101" pitchFamily="2" charset="-122"/>
                <a:ea typeface="宋体" panose="02010600030101010101" pitchFamily="2" charset="-122"/>
              </a:rPr>
              <a:t>220V</a:t>
            </a:r>
            <a:r>
              <a:rPr lang="zh-CN" altLang="zh-CN" sz="2400" dirty="0">
                <a:latin typeface="宋体" panose="02010600030101010101" pitchFamily="2" charset="-122"/>
                <a:ea typeface="宋体" panose="02010600030101010101" pitchFamily="2" charset="-122"/>
              </a:rPr>
              <a:t>灯带、节能灯管、</a:t>
            </a:r>
            <a:r>
              <a:rPr lang="en-US" altLang="zh-CN" sz="2400" dirty="0">
                <a:latin typeface="宋体" panose="02010600030101010101" pitchFamily="2" charset="-122"/>
                <a:ea typeface="宋体" panose="02010600030101010101" pitchFamily="2" charset="-122"/>
              </a:rPr>
              <a:t>USB</a:t>
            </a:r>
            <a:r>
              <a:rPr lang="zh-CN" altLang="zh-CN" sz="2400" dirty="0">
                <a:latin typeface="宋体" panose="02010600030101010101" pitchFamily="2" charset="-122"/>
                <a:ea typeface="宋体" panose="02010600030101010101" pitchFamily="2" charset="-122"/>
              </a:rPr>
              <a:t>充电器（带负载）、无线路由器、机顶盒、电风扇、热水壶、电磁炉。</a:t>
            </a:r>
          </a:p>
          <a:p>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2</a:t>
            </a:r>
            <a:r>
              <a:rPr lang="zh-CN" altLang="zh-CN" sz="2400" dirty="0">
                <a:latin typeface="宋体" panose="02010600030101010101" pitchFamily="2" charset="-122"/>
                <a:ea typeface="宋体" panose="02010600030101010101" pitchFamily="2" charset="-122"/>
              </a:rPr>
              <a:t>）自定可识别的电器种类，总数不低于</a:t>
            </a:r>
            <a:r>
              <a:rPr lang="en-US" altLang="zh-CN" sz="2400" dirty="0">
                <a:latin typeface="宋体" panose="02010600030101010101" pitchFamily="2" charset="-122"/>
                <a:ea typeface="宋体" panose="02010600030101010101" pitchFamily="2" charset="-122"/>
              </a:rPr>
              <a:t>7</a:t>
            </a:r>
            <a:r>
              <a:rPr lang="zh-CN" altLang="zh-CN" sz="2400" dirty="0">
                <a:latin typeface="宋体" panose="02010600030101010101" pitchFamily="2" charset="-122"/>
                <a:ea typeface="宋体" panose="02010600030101010101" pitchFamily="2" charset="-122"/>
              </a:rPr>
              <a:t>，用序号表示。电流不大于</a:t>
            </a:r>
            <a:r>
              <a:rPr lang="en-US" altLang="zh-CN" sz="2400" dirty="0">
                <a:latin typeface="宋体" panose="02010600030101010101" pitchFamily="2" charset="-122"/>
                <a:ea typeface="宋体" panose="02010600030101010101" pitchFamily="2" charset="-122"/>
              </a:rPr>
              <a:t>50mA</a:t>
            </a:r>
            <a:r>
              <a:rPr lang="zh-CN" altLang="zh-CN" sz="2400" dirty="0">
                <a:latin typeface="宋体" panose="02010600030101010101" pitchFamily="2" charset="-122"/>
                <a:ea typeface="宋体" panose="02010600030101010101" pitchFamily="2" charset="-122"/>
              </a:rPr>
              <a:t>的电器数不低于</a:t>
            </a:r>
            <a:r>
              <a:rPr lang="en-US" altLang="zh-CN" sz="2400" dirty="0">
                <a:latin typeface="宋体" panose="02010600030101010101" pitchFamily="2" charset="-122"/>
                <a:ea typeface="宋体" panose="02010600030101010101" pitchFamily="2" charset="-122"/>
              </a:rPr>
              <a:t>5</a:t>
            </a:r>
            <a:r>
              <a:rPr lang="zh-CN" altLang="zh-CN" sz="2400" dirty="0">
                <a:latin typeface="宋体" panose="02010600030101010101" pitchFamily="2" charset="-122"/>
                <a:ea typeface="宋体" panose="02010600030101010101" pitchFamily="2" charset="-122"/>
              </a:rPr>
              <a:t>，包括一件自制电器，编号为</a:t>
            </a:r>
            <a:r>
              <a:rPr lang="en-US" altLang="zh-CN" sz="2400" dirty="0">
                <a:latin typeface="宋体" panose="02010600030101010101" pitchFamily="2" charset="-122"/>
                <a:ea typeface="宋体" panose="02010600030101010101" pitchFamily="2" charset="-122"/>
              </a:rPr>
              <a:t>1~5</a:t>
            </a:r>
            <a:r>
              <a:rPr lang="zh-CN" altLang="zh-CN" sz="2400" dirty="0">
                <a:latin typeface="宋体" panose="02010600030101010101" pitchFamily="2" charset="-122"/>
                <a:ea typeface="宋体" panose="02010600030101010101" pitchFamily="2" charset="-122"/>
              </a:rPr>
              <a:t>；编号为</a:t>
            </a:r>
            <a:r>
              <a:rPr lang="en-US" altLang="zh-CN" sz="2400" dirty="0">
                <a:latin typeface="宋体" panose="02010600030101010101" pitchFamily="2" charset="-122"/>
                <a:ea typeface="宋体" panose="02010600030101010101" pitchFamily="2" charset="-122"/>
              </a:rPr>
              <a:t>7</a:t>
            </a:r>
            <a:r>
              <a:rPr lang="zh-CN" altLang="zh-CN" sz="2400" dirty="0">
                <a:latin typeface="宋体" panose="02010600030101010101" pitchFamily="2" charset="-122"/>
                <a:ea typeface="宋体" panose="02010600030101010101" pitchFamily="2" charset="-122"/>
              </a:rPr>
              <a:t>的电器电流大于</a:t>
            </a:r>
            <a:r>
              <a:rPr lang="en-US" altLang="zh-CN" sz="2400" dirty="0">
                <a:latin typeface="宋体" panose="02010600030101010101" pitchFamily="2" charset="-122"/>
                <a:ea typeface="宋体" panose="02010600030101010101" pitchFamily="2" charset="-122"/>
              </a:rPr>
              <a:t>8A</a:t>
            </a:r>
            <a:r>
              <a:rPr lang="zh-CN" altLang="zh-CN" sz="2400" dirty="0">
                <a:latin typeface="宋体" panose="02010600030101010101" pitchFamily="2" charset="-122"/>
                <a:ea typeface="宋体" panose="02010600030101010101" pitchFamily="2" charset="-122"/>
              </a:rPr>
              <a:t>。</a:t>
            </a:r>
          </a:p>
          <a:p>
            <a:pPr marL="12065" indent="254635" algn="just">
              <a:lnSpc>
                <a:spcPct val="125000"/>
              </a:lnSpc>
            </a:pP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3</a:t>
            </a:r>
            <a:r>
              <a:rPr lang="zh-CN" altLang="zh-CN" sz="2400" dirty="0">
                <a:latin typeface="宋体" panose="02010600030101010101" pitchFamily="2" charset="-122"/>
                <a:ea typeface="宋体" panose="02010600030101010101" pitchFamily="2" charset="-122"/>
              </a:rPr>
              <a:t>）随机增减在用电器，实时显示可识别电器是否在用和电源线上电流的特征</a:t>
            </a:r>
            <a:r>
              <a:rPr lang="zh-CN" altLang="zh-CN" sz="2400" kern="100" dirty="0">
                <a:solidFill>
                  <a:srgbClr val="000000"/>
                </a:solidFill>
                <a:effectLst/>
                <a:latin typeface="宋体" panose="02010600030101010101" pitchFamily="2" charset="-122"/>
                <a:ea typeface="宋体" panose="02010600030101010101" pitchFamily="2" charset="-122"/>
              </a:rPr>
              <a:t>参量，响应时间不大于</a:t>
            </a:r>
            <a:r>
              <a:rPr lang="en-US" altLang="zh-CN" sz="2400" kern="100" dirty="0">
                <a:solidFill>
                  <a:srgbClr val="000000"/>
                </a:solidFill>
                <a:effectLst/>
                <a:latin typeface="宋体" panose="02010600030101010101" pitchFamily="2" charset="-122"/>
                <a:ea typeface="宋体" panose="02010600030101010101" pitchFamily="2" charset="-122"/>
              </a:rPr>
              <a:t>2s</a:t>
            </a:r>
            <a:r>
              <a:rPr lang="zh-CN" altLang="zh-CN" sz="2400" kern="100" dirty="0">
                <a:solidFill>
                  <a:srgbClr val="000000"/>
                </a:solidFill>
                <a:effectLst/>
                <a:latin typeface="宋体" panose="02010600030101010101" pitchFamily="2" charset="-122"/>
                <a:ea typeface="宋体" panose="02010600030101010101" pitchFamily="2" charset="-122"/>
              </a:rPr>
              <a:t>。特征参量的种类、性质自定。</a:t>
            </a:r>
            <a:endParaRPr lang="zh-CN" altLang="zh-CN" sz="2400" kern="100" dirty="0">
              <a:effectLst/>
              <a:latin typeface="宋体" panose="02010600030101010101" pitchFamily="2" charset="-122"/>
              <a:ea typeface="宋体" panose="02010600030101010101" pitchFamily="2" charset="-122"/>
            </a:endParaRPr>
          </a:p>
          <a:p>
            <a:pPr marL="12065" indent="254635" algn="just">
              <a:lnSpc>
                <a:spcPct val="125000"/>
              </a:lnSpc>
            </a:pPr>
            <a:r>
              <a:rPr lang="zh-CN" altLang="zh-CN" sz="2400" kern="100" dirty="0">
                <a:solidFill>
                  <a:srgbClr val="000000"/>
                </a:solidFill>
                <a:effectLst/>
                <a:latin typeface="宋体" panose="02010600030101010101" pitchFamily="2" charset="-122"/>
                <a:ea typeface="宋体" panose="02010600030101010101" pitchFamily="2" charset="-122"/>
              </a:rPr>
              <a:t>（</a:t>
            </a:r>
            <a:r>
              <a:rPr lang="en-US" altLang="zh-CN" sz="2400" kern="100" dirty="0">
                <a:solidFill>
                  <a:srgbClr val="000000"/>
                </a:solidFill>
                <a:effectLst/>
                <a:latin typeface="宋体" panose="02010600030101010101" pitchFamily="2" charset="-122"/>
                <a:ea typeface="宋体" panose="02010600030101010101" pitchFamily="2" charset="-122"/>
              </a:rPr>
              <a:t>4</a:t>
            </a:r>
            <a:r>
              <a:rPr lang="zh-CN" altLang="zh-CN" sz="2400" kern="100" dirty="0">
                <a:solidFill>
                  <a:srgbClr val="000000"/>
                </a:solidFill>
                <a:effectLst/>
                <a:latin typeface="宋体" panose="02010600030101010101" pitchFamily="2" charset="-122"/>
                <a:ea typeface="宋体" panose="02010600030101010101" pitchFamily="2" charset="-122"/>
              </a:rPr>
              <a:t>）用电阻，电容和二极管自制</a:t>
            </a:r>
            <a:r>
              <a:rPr lang="en-US" altLang="zh-CN" sz="2400" kern="100" dirty="0">
                <a:solidFill>
                  <a:srgbClr val="000000"/>
                </a:solidFill>
                <a:effectLst/>
                <a:latin typeface="宋体" panose="02010600030101010101" pitchFamily="2" charset="-122"/>
                <a:ea typeface="宋体" panose="02010600030101010101" pitchFamily="2" charset="-122"/>
              </a:rPr>
              <a:t>1</a:t>
            </a:r>
            <a:r>
              <a:rPr lang="zh-CN" altLang="zh-CN" sz="2400" kern="100" dirty="0">
                <a:solidFill>
                  <a:srgbClr val="000000"/>
                </a:solidFill>
                <a:effectLst/>
                <a:latin typeface="宋体" panose="02010600030101010101" pitchFamily="2" charset="-122"/>
                <a:ea typeface="宋体" panose="02010600030101010101" pitchFamily="2" charset="-122"/>
              </a:rPr>
              <a:t>号电器，其电流与</a:t>
            </a:r>
            <a:r>
              <a:rPr lang="en-US" altLang="zh-CN" sz="2400" kern="100" dirty="0">
                <a:solidFill>
                  <a:srgbClr val="000000"/>
                </a:solidFill>
                <a:effectLst/>
                <a:latin typeface="宋体" panose="02010600030101010101" pitchFamily="2" charset="-122"/>
                <a:ea typeface="宋体" panose="02010600030101010101" pitchFamily="2" charset="-122"/>
              </a:rPr>
              <a:t>2</a:t>
            </a:r>
            <a:r>
              <a:rPr lang="zh-CN" altLang="zh-CN" sz="2400" kern="100" dirty="0">
                <a:solidFill>
                  <a:srgbClr val="000000"/>
                </a:solidFill>
                <a:effectLst/>
                <a:latin typeface="宋体" panose="02010600030101010101" pitchFamily="2" charset="-122"/>
                <a:ea typeface="宋体" panose="02010600030101010101" pitchFamily="2" charset="-122"/>
              </a:rPr>
              <a:t>号电器相同但相位不同，且含有谐波，两者电流差小于</a:t>
            </a:r>
            <a:r>
              <a:rPr lang="en-US" altLang="zh-CN" sz="2400" kern="100" dirty="0">
                <a:solidFill>
                  <a:srgbClr val="000000"/>
                </a:solidFill>
                <a:effectLst/>
                <a:latin typeface="宋体" panose="02010600030101010101" pitchFamily="2" charset="-122"/>
                <a:ea typeface="宋体" panose="02010600030101010101" pitchFamily="2" charset="-122"/>
              </a:rPr>
              <a:t>1mA</a:t>
            </a:r>
            <a:r>
              <a:rPr lang="zh-CN" altLang="zh-CN" sz="2400" kern="100" dirty="0">
                <a:solidFill>
                  <a:srgbClr val="000000"/>
                </a:solidFill>
                <a:effectLst/>
                <a:latin typeface="宋体" panose="02010600030101010101" pitchFamily="2" charset="-122"/>
                <a:ea typeface="宋体" panose="02010600030101010101" pitchFamily="2" charset="-122"/>
              </a:rPr>
              <a:t>。</a:t>
            </a:r>
            <a:endParaRPr lang="zh-CN" altLang="zh-CN" sz="2400" kern="100" dirty="0">
              <a:effectLst/>
              <a:latin typeface="宋体" panose="02010600030101010101" pitchFamily="2" charset="-122"/>
              <a:ea typeface="宋体" panose="02010600030101010101" pitchFamily="2" charset="-122"/>
            </a:endParaRPr>
          </a:p>
          <a:p>
            <a:r>
              <a:rPr lang="zh-CN" altLang="zh-CN" sz="2400" kern="100" dirty="0">
                <a:solidFill>
                  <a:srgbClr val="000000"/>
                </a:solidFill>
                <a:effectLst/>
                <a:ea typeface="宋体" panose="02010600030101010101" pitchFamily="2" charset="-122"/>
                <a:cs typeface="Times New Roman" panose="02020603050405020304" pitchFamily="18" charset="0"/>
              </a:rPr>
              <a:t>交作品之前完成学习过程，赛区测试时直接演示基本要求的功能。</a:t>
            </a:r>
            <a:endParaRPr lang="zh-CN" altLang="en-US" sz="2400" dirty="0"/>
          </a:p>
        </p:txBody>
      </p:sp>
    </p:spTree>
    <p:extLst>
      <p:ext uri="{BB962C8B-B14F-4D97-AF65-F5344CB8AC3E}">
        <p14:creationId xmlns:p14="http://schemas.microsoft.com/office/powerpoint/2010/main" val="2577751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E1419C-0EFB-405B-A79D-7A91B7D576E0}"/>
              </a:ext>
            </a:extLst>
          </p:cNvPr>
          <p:cNvSpPr>
            <a:spLocks noGrp="1"/>
          </p:cNvSpPr>
          <p:nvPr>
            <p:ph type="title"/>
          </p:nvPr>
        </p:nvSpPr>
        <p:spPr>
          <a:xfrm>
            <a:off x="838200" y="815009"/>
            <a:ext cx="10515600" cy="551621"/>
          </a:xfrm>
        </p:spPr>
        <p:txBody>
          <a:bodyPr anchor="t">
            <a:normAutofit fontScale="90000"/>
          </a:bodyPr>
          <a:lstStyle/>
          <a:p>
            <a:r>
              <a:rPr lang="en-US" altLang="zh-CN" sz="2700" b="1" kern="100" dirty="0">
                <a:solidFill>
                  <a:srgbClr val="000000"/>
                </a:solidFill>
                <a:effectLst/>
                <a:latin typeface="华文中宋" panose="02010600040101010101" pitchFamily="2" charset="-122"/>
                <a:ea typeface="宋体" panose="02010600030101010101" pitchFamily="2" charset="-122"/>
              </a:rPr>
              <a:t>2</a:t>
            </a:r>
            <a:r>
              <a:rPr lang="zh-CN" altLang="zh-CN" sz="2700" b="1" kern="100" dirty="0">
                <a:solidFill>
                  <a:srgbClr val="000000"/>
                </a:solidFill>
                <a:effectLst/>
                <a:latin typeface="Times New Roman" panose="02020603050405020304" pitchFamily="18" charset="0"/>
                <a:ea typeface="华文中宋" panose="02010600040101010101" pitchFamily="2" charset="-122"/>
              </a:rPr>
              <a:t>．发挥部分</a:t>
            </a:r>
            <a:br>
              <a:rPr lang="zh-CN" altLang="zh-CN" sz="4400" kern="100" dirty="0">
                <a:effectLst/>
                <a:latin typeface="Times New Roman" panose="02020603050405020304" pitchFamily="18" charset="0"/>
                <a:ea typeface="宋体" panose="02010600030101010101" pitchFamily="2" charset="-122"/>
              </a:rPr>
            </a:br>
            <a:endParaRPr lang="zh-CN" altLang="en-US" dirty="0"/>
          </a:p>
        </p:txBody>
      </p:sp>
      <p:sp>
        <p:nvSpPr>
          <p:cNvPr id="3" name="内容占位符 2">
            <a:extLst>
              <a:ext uri="{FF2B5EF4-FFF2-40B4-BE49-F238E27FC236}">
                <a16:creationId xmlns:a16="http://schemas.microsoft.com/office/drawing/2014/main" id="{3D5373C3-5F6D-44BD-A1E5-E7E837EACFB3}"/>
              </a:ext>
            </a:extLst>
          </p:cNvPr>
          <p:cNvSpPr>
            <a:spLocks noGrp="1"/>
          </p:cNvSpPr>
          <p:nvPr>
            <p:ph idx="1"/>
          </p:nvPr>
        </p:nvSpPr>
        <p:spPr>
          <a:xfrm>
            <a:off x="838200" y="1401417"/>
            <a:ext cx="10515600" cy="4775546"/>
          </a:xfrm>
        </p:spPr>
        <p:txBody>
          <a:bodyPr>
            <a:noAutofit/>
          </a:bodyPr>
          <a:lstStyle/>
          <a:p>
            <a:pPr marL="12065" indent="254635" algn="just">
              <a:lnSpc>
                <a:spcPct val="125000"/>
              </a:lnSpc>
            </a:pPr>
            <a:r>
              <a:rPr lang="zh-CN" altLang="zh-CN" sz="2400" kern="100" dirty="0">
                <a:solidFill>
                  <a:srgbClr val="000000"/>
                </a:solidFill>
                <a:effectLst/>
                <a:latin typeface="Times New Roman" panose="02020603050405020304" pitchFamily="18" charset="0"/>
                <a:ea typeface="宋体" panose="02010600030101010101" pitchFamily="2" charset="-122"/>
              </a:rPr>
              <a:t>（</a:t>
            </a:r>
            <a:r>
              <a:rPr lang="en-US" altLang="zh-CN" sz="2400" kern="100" dirty="0">
                <a:solidFill>
                  <a:srgbClr val="000000"/>
                </a:solidFill>
                <a:effectLst/>
                <a:latin typeface="Times New Roman" panose="02020603050405020304" pitchFamily="18" charset="0"/>
                <a:ea typeface="宋体" panose="02010600030101010101" pitchFamily="2" charset="-122"/>
              </a:rPr>
              <a:t>1</a:t>
            </a:r>
            <a:r>
              <a:rPr lang="zh-CN" altLang="zh-CN" sz="2400" kern="100" dirty="0">
                <a:solidFill>
                  <a:srgbClr val="000000"/>
                </a:solidFill>
                <a:effectLst/>
                <a:latin typeface="Times New Roman" panose="02020603050405020304" pitchFamily="18" charset="0"/>
                <a:ea typeface="宋体" panose="02010600030101010101" pitchFamily="2" charset="-122"/>
              </a:rPr>
              <a:t>）具有学习功能。清除作品存储的所有特征参量，重新测试并存储指定电器的特征参量。一种电器的学习时间不大于</a:t>
            </a:r>
            <a:r>
              <a:rPr lang="en-US" altLang="zh-CN" sz="2400" kern="100" dirty="0">
                <a:solidFill>
                  <a:srgbClr val="000000"/>
                </a:solidFill>
                <a:effectLst/>
                <a:latin typeface="Times New Roman" panose="02020603050405020304" pitchFamily="18" charset="0"/>
                <a:ea typeface="宋体" panose="02010600030101010101" pitchFamily="2" charset="-122"/>
              </a:rPr>
              <a:t>1</a:t>
            </a:r>
            <a:r>
              <a:rPr lang="zh-CN" altLang="zh-CN" sz="2400" kern="100" dirty="0">
                <a:solidFill>
                  <a:srgbClr val="000000"/>
                </a:solidFill>
                <a:effectLst/>
                <a:latin typeface="Times New Roman" panose="02020603050405020304" pitchFamily="18" charset="0"/>
                <a:ea typeface="宋体" panose="02010600030101010101" pitchFamily="2" charset="-122"/>
              </a:rPr>
              <a:t>分钟。</a:t>
            </a:r>
            <a:endParaRPr lang="zh-CN" altLang="zh-CN" sz="2400" kern="100" dirty="0">
              <a:effectLst/>
              <a:latin typeface="Times New Roman" panose="02020603050405020304" pitchFamily="18" charset="0"/>
              <a:ea typeface="宋体" panose="02010600030101010101" pitchFamily="2" charset="-122"/>
            </a:endParaRPr>
          </a:p>
          <a:p>
            <a:pPr marL="12065" indent="254635" algn="just">
              <a:lnSpc>
                <a:spcPct val="125000"/>
              </a:lnSpc>
            </a:pPr>
            <a:r>
              <a:rPr lang="zh-CN" altLang="zh-CN" sz="2400" kern="100" dirty="0">
                <a:solidFill>
                  <a:srgbClr val="000000"/>
                </a:solidFill>
                <a:effectLst/>
                <a:latin typeface="Times New Roman" panose="02020603050405020304" pitchFamily="18" charset="0"/>
                <a:ea typeface="宋体" panose="02010600030101010101" pitchFamily="2" charset="-122"/>
              </a:rPr>
              <a:t>（</a:t>
            </a:r>
            <a:r>
              <a:rPr lang="en-US" altLang="zh-CN" sz="2400" kern="100" dirty="0">
                <a:solidFill>
                  <a:srgbClr val="000000"/>
                </a:solidFill>
                <a:effectLst/>
                <a:latin typeface="Times New Roman" panose="02020603050405020304" pitchFamily="18" charset="0"/>
                <a:ea typeface="宋体" panose="02010600030101010101" pitchFamily="2" charset="-122"/>
              </a:rPr>
              <a:t>2</a:t>
            </a:r>
            <a:r>
              <a:rPr lang="zh-CN" altLang="zh-CN" sz="2400" kern="100" dirty="0">
                <a:solidFill>
                  <a:srgbClr val="000000"/>
                </a:solidFill>
                <a:effectLst/>
                <a:latin typeface="Times New Roman" panose="02020603050405020304" pitchFamily="18" charset="0"/>
                <a:ea typeface="宋体" panose="02010600030101010101" pitchFamily="2" charset="-122"/>
              </a:rPr>
              <a:t>）随机增减在用电器，实时显示可识别电器是否在用和电源线上电流的特征参量，响应时间不大于</a:t>
            </a:r>
            <a:r>
              <a:rPr lang="en-US" altLang="zh-CN" sz="2400" kern="100" dirty="0">
                <a:solidFill>
                  <a:srgbClr val="000000"/>
                </a:solidFill>
                <a:effectLst/>
                <a:latin typeface="Times New Roman" panose="02020603050405020304" pitchFamily="18" charset="0"/>
                <a:ea typeface="宋体" panose="02010600030101010101" pitchFamily="2" charset="-122"/>
              </a:rPr>
              <a:t>2s</a:t>
            </a:r>
            <a:r>
              <a:rPr lang="zh-CN" altLang="zh-CN" sz="2400" kern="100" dirty="0">
                <a:solidFill>
                  <a:srgbClr val="000000"/>
                </a:solidFill>
                <a:effectLst/>
                <a:latin typeface="Times New Roman" panose="02020603050405020304" pitchFamily="18" charset="0"/>
                <a:ea typeface="宋体" panose="02010600030101010101" pitchFamily="2" charset="-122"/>
              </a:rPr>
              <a:t>。</a:t>
            </a:r>
            <a:endParaRPr lang="zh-CN" altLang="zh-CN" sz="2400" kern="100" dirty="0">
              <a:effectLst/>
              <a:latin typeface="Times New Roman" panose="02020603050405020304" pitchFamily="18" charset="0"/>
              <a:ea typeface="宋体" panose="02010600030101010101" pitchFamily="2" charset="-122"/>
            </a:endParaRPr>
          </a:p>
          <a:p>
            <a:pPr marL="12065" indent="254635" algn="just">
              <a:lnSpc>
                <a:spcPct val="125000"/>
              </a:lnSpc>
            </a:pPr>
            <a:r>
              <a:rPr lang="zh-CN" altLang="zh-CN" sz="2400" kern="100" dirty="0">
                <a:solidFill>
                  <a:srgbClr val="000000"/>
                </a:solidFill>
                <a:effectLst/>
                <a:latin typeface="Times New Roman" panose="02020603050405020304" pitchFamily="18" charset="0"/>
                <a:ea typeface="宋体" panose="02010600030101010101" pitchFamily="2" charset="-122"/>
              </a:rPr>
              <a:t>（</a:t>
            </a:r>
            <a:r>
              <a:rPr lang="en-US" altLang="zh-CN" sz="2400" kern="100" dirty="0">
                <a:solidFill>
                  <a:srgbClr val="000000"/>
                </a:solidFill>
                <a:effectLst/>
                <a:latin typeface="Times New Roman" panose="02020603050405020304" pitchFamily="18" charset="0"/>
                <a:ea typeface="宋体" panose="02010600030101010101" pitchFamily="2" charset="-122"/>
              </a:rPr>
              <a:t>3</a:t>
            </a:r>
            <a:r>
              <a:rPr lang="zh-CN" altLang="zh-CN" sz="2400" kern="100" dirty="0">
                <a:solidFill>
                  <a:srgbClr val="000000"/>
                </a:solidFill>
                <a:effectLst/>
                <a:latin typeface="Times New Roman" panose="02020603050405020304" pitchFamily="18" charset="0"/>
                <a:ea typeface="宋体" panose="02010600030101010101" pitchFamily="2" charset="-122"/>
              </a:rPr>
              <a:t>）提高识别电流相同，其他特性不同的电器的能力和大、小电流电器共用时识别小电流电器的能力。</a:t>
            </a:r>
            <a:endParaRPr lang="zh-CN" altLang="zh-CN" sz="2400" kern="100" dirty="0">
              <a:effectLst/>
              <a:latin typeface="Times New Roman" panose="02020603050405020304" pitchFamily="18" charset="0"/>
              <a:ea typeface="宋体" panose="02010600030101010101" pitchFamily="2" charset="-122"/>
            </a:endParaRPr>
          </a:p>
          <a:p>
            <a:pPr marL="12065" indent="254635" algn="just">
              <a:lnSpc>
                <a:spcPct val="125000"/>
              </a:lnSpc>
            </a:pPr>
            <a:r>
              <a:rPr lang="zh-CN" altLang="zh-CN" sz="2400" kern="100" dirty="0">
                <a:solidFill>
                  <a:srgbClr val="000000"/>
                </a:solidFill>
                <a:effectLst/>
                <a:latin typeface="Times New Roman" panose="02020603050405020304" pitchFamily="18" charset="0"/>
                <a:ea typeface="宋体" panose="02010600030101010101" pitchFamily="2" charset="-122"/>
              </a:rPr>
              <a:t>（</a:t>
            </a:r>
            <a:r>
              <a:rPr lang="en-US" altLang="zh-CN" sz="2400" kern="100" dirty="0">
                <a:solidFill>
                  <a:srgbClr val="000000"/>
                </a:solidFill>
                <a:effectLst/>
                <a:latin typeface="Times New Roman" panose="02020603050405020304" pitchFamily="18" charset="0"/>
                <a:ea typeface="宋体" panose="02010600030101010101" pitchFamily="2" charset="-122"/>
              </a:rPr>
              <a:t>4</a:t>
            </a:r>
            <a:r>
              <a:rPr lang="zh-CN" altLang="zh-CN" sz="2400" kern="100" dirty="0">
                <a:solidFill>
                  <a:srgbClr val="000000"/>
                </a:solidFill>
                <a:effectLst/>
                <a:latin typeface="Times New Roman" panose="02020603050405020304" pitchFamily="18" charset="0"/>
                <a:ea typeface="宋体" panose="02010600030101010101" pitchFamily="2" charset="-122"/>
              </a:rPr>
              <a:t>）装置在分析识别模式下的工作电流不大于</a:t>
            </a:r>
            <a:r>
              <a:rPr lang="en-US" altLang="zh-CN" sz="2400" kern="100" dirty="0">
                <a:solidFill>
                  <a:srgbClr val="000000"/>
                </a:solidFill>
                <a:effectLst/>
                <a:latin typeface="Times New Roman" panose="02020603050405020304" pitchFamily="18" charset="0"/>
                <a:ea typeface="宋体" panose="02010600030101010101" pitchFamily="2" charset="-122"/>
              </a:rPr>
              <a:t>15mA</a:t>
            </a:r>
            <a:r>
              <a:rPr lang="zh-CN" altLang="zh-CN" sz="2400" kern="100" dirty="0">
                <a:solidFill>
                  <a:srgbClr val="000000"/>
                </a:solidFill>
                <a:effectLst/>
                <a:latin typeface="Times New Roman" panose="02020603050405020304" pitchFamily="18" charset="0"/>
                <a:ea typeface="宋体" panose="02010600030101010101" pitchFamily="2" charset="-122"/>
              </a:rPr>
              <a:t>，可以选用无线传输到手机上显示的方式。</a:t>
            </a:r>
            <a:endParaRPr lang="zh-CN" altLang="zh-CN" sz="2400" kern="100" dirty="0">
              <a:effectLst/>
              <a:latin typeface="Times New Roman" panose="02020603050405020304" pitchFamily="18" charset="0"/>
              <a:ea typeface="宋体" panose="02010600030101010101" pitchFamily="2" charset="-122"/>
            </a:endParaRPr>
          </a:p>
          <a:p>
            <a:pPr marL="12065" indent="254635" algn="just">
              <a:lnSpc>
                <a:spcPct val="125000"/>
              </a:lnSpc>
            </a:pPr>
            <a:r>
              <a:rPr lang="zh-CN" altLang="zh-CN" sz="2400" kern="100" dirty="0">
                <a:solidFill>
                  <a:srgbClr val="000000"/>
                </a:solidFill>
                <a:effectLst/>
                <a:latin typeface="Times New Roman" panose="02020603050405020304" pitchFamily="18" charset="0"/>
                <a:ea typeface="宋体" panose="02010600030101010101" pitchFamily="2" charset="-122"/>
              </a:rPr>
              <a:t>（</a:t>
            </a:r>
            <a:r>
              <a:rPr lang="en-US" altLang="zh-CN" sz="2400" kern="100" dirty="0">
                <a:solidFill>
                  <a:srgbClr val="000000"/>
                </a:solidFill>
                <a:effectLst/>
                <a:latin typeface="Times New Roman" panose="02020603050405020304" pitchFamily="18" charset="0"/>
                <a:ea typeface="宋体" panose="02010600030101010101" pitchFamily="2" charset="-122"/>
              </a:rPr>
              <a:t>5</a:t>
            </a:r>
            <a:r>
              <a:rPr lang="zh-CN" altLang="zh-CN" sz="2400" kern="100" dirty="0">
                <a:solidFill>
                  <a:srgbClr val="000000"/>
                </a:solidFill>
                <a:effectLst/>
                <a:latin typeface="Times New Roman" panose="02020603050405020304" pitchFamily="18" charset="0"/>
                <a:ea typeface="宋体" panose="02010600030101010101" pitchFamily="2" charset="-122"/>
              </a:rPr>
              <a:t>）其他</a:t>
            </a:r>
            <a:endParaRPr lang="zh-CN" altLang="zh-CN" sz="2400" kern="100" dirty="0">
              <a:effectLst/>
              <a:latin typeface="Times New Roman" panose="02020603050405020304" pitchFamily="18" charset="0"/>
              <a:ea typeface="宋体" panose="02010600030101010101" pitchFamily="2" charset="-122"/>
            </a:endParaRPr>
          </a:p>
          <a:p>
            <a:endParaRPr lang="zh-CN" altLang="en-US" sz="2400" dirty="0"/>
          </a:p>
        </p:txBody>
      </p:sp>
    </p:spTree>
    <p:extLst>
      <p:ext uri="{BB962C8B-B14F-4D97-AF65-F5344CB8AC3E}">
        <p14:creationId xmlns:p14="http://schemas.microsoft.com/office/powerpoint/2010/main" val="305280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46F1E5-A2C7-4412-8B36-AFEF082BF808}"/>
              </a:ext>
            </a:extLst>
          </p:cNvPr>
          <p:cNvSpPr>
            <a:spLocks noGrp="1"/>
          </p:cNvSpPr>
          <p:nvPr>
            <p:ph type="title"/>
          </p:nvPr>
        </p:nvSpPr>
        <p:spPr/>
        <p:txBody>
          <a:bodyPr>
            <a:normAutofit/>
          </a:bodyPr>
          <a:lstStyle/>
          <a:p>
            <a:r>
              <a:rPr lang="zh-CN" altLang="en-US" sz="3200" b="1" dirty="0"/>
              <a:t>可用的电流特征参量</a:t>
            </a:r>
          </a:p>
        </p:txBody>
      </p:sp>
      <p:sp>
        <p:nvSpPr>
          <p:cNvPr id="3" name="内容占位符 2">
            <a:extLst>
              <a:ext uri="{FF2B5EF4-FFF2-40B4-BE49-F238E27FC236}">
                <a16:creationId xmlns:a16="http://schemas.microsoft.com/office/drawing/2014/main" id="{F622FF4F-5818-4816-9703-23CD287D2D17}"/>
              </a:ext>
            </a:extLst>
          </p:cNvPr>
          <p:cNvSpPr>
            <a:spLocks noGrp="1"/>
          </p:cNvSpPr>
          <p:nvPr>
            <p:ph idx="1"/>
          </p:nvPr>
        </p:nvSpPr>
        <p:spPr/>
        <p:txBody>
          <a:bodyPr/>
          <a:lstStyle/>
          <a:p>
            <a:r>
              <a:rPr lang="zh-CN" altLang="en-US" dirty="0">
                <a:latin typeface="华文宋体" panose="02010600040101010101" pitchFamily="2" charset="-122"/>
                <a:ea typeface="华文宋体" panose="02010600040101010101" pitchFamily="2" charset="-122"/>
              </a:rPr>
              <a:t>电流值</a:t>
            </a:r>
            <a:endParaRPr lang="en-US" altLang="zh-CN" dirty="0">
              <a:latin typeface="华文宋体" panose="02010600040101010101" pitchFamily="2" charset="-122"/>
              <a:ea typeface="华文宋体" panose="02010600040101010101" pitchFamily="2" charset="-122"/>
            </a:endParaRPr>
          </a:p>
          <a:p>
            <a:r>
              <a:rPr lang="zh-CN" altLang="en-US" dirty="0">
                <a:latin typeface="华文宋体" panose="02010600040101010101" pitchFamily="2" charset="-122"/>
                <a:ea typeface="华文宋体" panose="02010600040101010101" pitchFamily="2" charset="-122"/>
              </a:rPr>
              <a:t>电流与电压间的相位差</a:t>
            </a:r>
            <a:endParaRPr lang="en-US" altLang="zh-CN" dirty="0">
              <a:latin typeface="华文宋体" panose="02010600040101010101" pitchFamily="2" charset="-122"/>
              <a:ea typeface="华文宋体" panose="02010600040101010101" pitchFamily="2" charset="-122"/>
            </a:endParaRPr>
          </a:p>
          <a:p>
            <a:r>
              <a:rPr lang="zh-CN" altLang="en-US" dirty="0">
                <a:latin typeface="华文宋体" panose="02010600040101010101" pitchFamily="2" charset="-122"/>
                <a:ea typeface="华文宋体" panose="02010600040101010101" pitchFamily="2" charset="-122"/>
              </a:rPr>
              <a:t>基波及其各次谐波的分量</a:t>
            </a:r>
            <a:endParaRPr lang="en-US" altLang="zh-CN" dirty="0">
              <a:latin typeface="华文宋体" panose="02010600040101010101" pitchFamily="2" charset="-122"/>
              <a:ea typeface="华文宋体" panose="02010600040101010101" pitchFamily="2" charset="-122"/>
            </a:endParaRPr>
          </a:p>
          <a:p>
            <a:r>
              <a:rPr lang="zh-CN" altLang="en-US" dirty="0">
                <a:latin typeface="华文宋体" panose="02010600040101010101" pitchFamily="2" charset="-122"/>
                <a:ea typeface="华文宋体" panose="02010600040101010101" pitchFamily="2" charset="-122"/>
              </a:rPr>
              <a:t>电器</a:t>
            </a:r>
            <a:r>
              <a:rPr lang="zh-CN" altLang="en-US" dirty="0">
                <a:latin typeface="宋体" panose="02010600030101010101" pitchFamily="2" charset="-122"/>
                <a:ea typeface="宋体" panose="02010600030101010101" pitchFamily="2" charset="-122"/>
              </a:rPr>
              <a:t>接通</a:t>
            </a:r>
            <a:r>
              <a:rPr lang="zh-CN" altLang="en-US" dirty="0">
                <a:latin typeface="华文宋体" panose="02010600040101010101" pitchFamily="2" charset="-122"/>
                <a:ea typeface="华文宋体" panose="02010600040101010101" pitchFamily="2" charset="-122"/>
              </a:rPr>
              <a:t>或断开的参量变化过渡过程（例如投影仪，电磁炉）</a:t>
            </a:r>
            <a:endParaRPr lang="en-US" altLang="zh-CN" dirty="0">
              <a:latin typeface="华文宋体" panose="02010600040101010101" pitchFamily="2" charset="-122"/>
              <a:ea typeface="华文宋体" panose="02010600040101010101" pitchFamily="2" charset="-122"/>
            </a:endParaRPr>
          </a:p>
          <a:p>
            <a:r>
              <a:rPr lang="zh-CN" altLang="en-US" dirty="0">
                <a:latin typeface="华文宋体" panose="02010600040101010101" pitchFamily="2" charset="-122"/>
                <a:ea typeface="华文宋体" panose="02010600040101010101" pitchFamily="2" charset="-122"/>
              </a:rPr>
              <a:t>电压作为参考变量</a:t>
            </a:r>
            <a:endParaRPr lang="en-US" altLang="zh-CN" dirty="0">
              <a:latin typeface="华文宋体" panose="02010600040101010101" pitchFamily="2" charset="-122"/>
              <a:ea typeface="华文宋体" panose="02010600040101010101" pitchFamily="2" charset="-122"/>
            </a:endParaRPr>
          </a:p>
          <a:p>
            <a:r>
              <a:rPr lang="zh-CN" altLang="en-US" dirty="0">
                <a:latin typeface="华文宋体" panose="02010600040101010101" pitchFamily="2" charset="-122"/>
                <a:ea typeface="华文宋体" panose="02010600040101010101" pitchFamily="2" charset="-122"/>
              </a:rPr>
              <a:t>其他</a:t>
            </a:r>
          </a:p>
        </p:txBody>
      </p:sp>
    </p:spTree>
    <p:extLst>
      <p:ext uri="{BB962C8B-B14F-4D97-AF65-F5344CB8AC3E}">
        <p14:creationId xmlns:p14="http://schemas.microsoft.com/office/powerpoint/2010/main" val="2801609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C4C6CD-8B77-4FF4-8C1E-1DD3C0D8F021}"/>
              </a:ext>
            </a:extLst>
          </p:cNvPr>
          <p:cNvSpPr>
            <a:spLocks noGrp="1"/>
          </p:cNvSpPr>
          <p:nvPr>
            <p:ph type="title"/>
          </p:nvPr>
        </p:nvSpPr>
        <p:spPr/>
        <p:txBody>
          <a:bodyPr>
            <a:normAutofit/>
          </a:bodyPr>
          <a:lstStyle/>
          <a:p>
            <a:r>
              <a:rPr lang="zh-CN" altLang="en-US" sz="3600" b="1" dirty="0"/>
              <a:t>采样要求</a:t>
            </a:r>
          </a:p>
        </p:txBody>
      </p:sp>
      <p:sp>
        <p:nvSpPr>
          <p:cNvPr id="3" name="内容占位符 2">
            <a:extLst>
              <a:ext uri="{FF2B5EF4-FFF2-40B4-BE49-F238E27FC236}">
                <a16:creationId xmlns:a16="http://schemas.microsoft.com/office/drawing/2014/main" id="{D174CCE7-5FA7-4A29-BE6C-6846D37468B9}"/>
              </a:ext>
            </a:extLst>
          </p:cNvPr>
          <p:cNvSpPr>
            <a:spLocks noGrp="1"/>
          </p:cNvSpPr>
          <p:nvPr>
            <p:ph idx="1"/>
          </p:nvPr>
        </p:nvSpPr>
        <p:spPr/>
        <p:txBody>
          <a:bodyPr/>
          <a:lstStyle/>
          <a:p>
            <a:r>
              <a:rPr lang="zh-CN" altLang="en-US" dirty="0">
                <a:latin typeface="宋体" panose="02010600030101010101" pitchFamily="2" charset="-122"/>
                <a:ea typeface="宋体" panose="02010600030101010101" pitchFamily="2" charset="-122"/>
              </a:rPr>
              <a:t>电流动态范围 </a:t>
            </a:r>
            <a:r>
              <a:rPr lang="en-US" altLang="zh-CN" dirty="0">
                <a:latin typeface="宋体" panose="02010600030101010101" pitchFamily="2" charset="-122"/>
                <a:ea typeface="宋体" panose="02010600030101010101" pitchFamily="2" charset="-122"/>
              </a:rPr>
              <a:t>5mA</a:t>
            </a:r>
            <a:r>
              <a:rPr lang="zh-CN" altLang="en-US" dirty="0">
                <a:latin typeface="宋体" panose="02010600030101010101" pitchFamily="2" charset="-122"/>
                <a:ea typeface="宋体" panose="02010600030101010101" pitchFamily="2" charset="-122"/>
              </a:rPr>
              <a:t>至</a:t>
            </a:r>
            <a:r>
              <a:rPr lang="en-US" altLang="zh-CN" dirty="0">
                <a:latin typeface="宋体" panose="02010600030101010101" pitchFamily="2" charset="-122"/>
                <a:ea typeface="宋体" panose="02010600030101010101" pitchFamily="2" charset="-122"/>
              </a:rPr>
              <a:t>10A</a:t>
            </a:r>
            <a:r>
              <a:rPr lang="zh-CN" altLang="en-US" dirty="0">
                <a:latin typeface="宋体" panose="02010600030101010101" pitchFamily="2" charset="-122"/>
                <a:ea typeface="宋体" panose="02010600030101010101" pitchFamily="2" charset="-122"/>
              </a:rPr>
              <a:t>，不低于</a:t>
            </a:r>
            <a:r>
              <a:rPr lang="en-US" altLang="zh-CN" dirty="0">
                <a:latin typeface="宋体" panose="02010600030101010101" pitchFamily="2" charset="-122"/>
                <a:ea typeface="宋体" panose="02010600030101010101" pitchFamily="2" charset="-122"/>
              </a:rPr>
              <a:t>12bit</a:t>
            </a:r>
            <a:r>
              <a:rPr lang="zh-CN" altLang="en-US" dirty="0">
                <a:latin typeface="宋体" panose="02010600030101010101" pitchFamily="2" charset="-122"/>
                <a:ea typeface="宋体" panose="02010600030101010101" pitchFamily="2" charset="-122"/>
              </a:rPr>
              <a:t>精度。</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最高分析到</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次谐波，采样率高于</a:t>
            </a:r>
            <a:r>
              <a:rPr lang="en-US" altLang="zh-CN" dirty="0">
                <a:latin typeface="宋体" panose="02010600030101010101" pitchFamily="2" charset="-122"/>
                <a:ea typeface="宋体" panose="02010600030101010101" pitchFamily="2" charset="-122"/>
              </a:rPr>
              <a:t>500Sa/s</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电压波形作为参考，要求相同。</a:t>
            </a:r>
            <a:endParaRPr lang="en-US" altLang="zh-CN" dirty="0">
              <a:latin typeface="宋体" panose="02010600030101010101" pitchFamily="2" charset="-122"/>
              <a:ea typeface="宋体" panose="02010600030101010101" pitchFamily="2" charset="-122"/>
            </a:endParaRPr>
          </a:p>
          <a:p>
            <a:endParaRPr lang="zh-CN" altLang="en-US" dirty="0"/>
          </a:p>
        </p:txBody>
      </p:sp>
    </p:spTree>
    <p:extLst>
      <p:ext uri="{BB962C8B-B14F-4D97-AF65-F5344CB8AC3E}">
        <p14:creationId xmlns:p14="http://schemas.microsoft.com/office/powerpoint/2010/main" val="3722603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A723D2-AA0B-44B2-96F2-D8760C786187}"/>
              </a:ext>
            </a:extLst>
          </p:cNvPr>
          <p:cNvSpPr>
            <a:spLocks noGrp="1"/>
          </p:cNvSpPr>
          <p:nvPr>
            <p:ph type="title"/>
          </p:nvPr>
        </p:nvSpPr>
        <p:spPr/>
        <p:txBody>
          <a:bodyPr>
            <a:normAutofit/>
          </a:bodyPr>
          <a:lstStyle/>
          <a:p>
            <a:r>
              <a:rPr lang="zh-CN" altLang="en-US" sz="3600" b="1" dirty="0"/>
              <a:t>低功耗和其他要求</a:t>
            </a:r>
          </a:p>
        </p:txBody>
      </p:sp>
      <p:sp>
        <p:nvSpPr>
          <p:cNvPr id="3" name="内容占位符 2">
            <a:extLst>
              <a:ext uri="{FF2B5EF4-FFF2-40B4-BE49-F238E27FC236}">
                <a16:creationId xmlns:a16="http://schemas.microsoft.com/office/drawing/2014/main" id="{8F57DD12-E964-493B-BC05-C44DB4F780BA}"/>
              </a:ext>
            </a:extLst>
          </p:cNvPr>
          <p:cNvSpPr>
            <a:spLocks noGrp="1"/>
          </p:cNvSpPr>
          <p:nvPr>
            <p:ph idx="1"/>
          </p:nvPr>
        </p:nvSpPr>
        <p:spPr/>
        <p:txBody>
          <a:bodyPr/>
          <a:lstStyle/>
          <a:p>
            <a:r>
              <a:rPr lang="zh-CN" altLang="en-US" dirty="0">
                <a:latin typeface="宋体" panose="02010600030101010101" pitchFamily="2" charset="-122"/>
                <a:ea typeface="宋体" panose="02010600030101010101" pitchFamily="2" charset="-122"/>
              </a:rPr>
              <a:t>主要降低分析识别模式时的功耗。</a:t>
            </a:r>
            <a:endParaRPr lang="en-US" altLang="zh-CN" dirty="0">
              <a:latin typeface="宋体" panose="02010600030101010101" pitchFamily="2" charset="-122"/>
              <a:ea typeface="宋体" panose="02010600030101010101" pitchFamily="2" charset="-122"/>
            </a:endParaRPr>
          </a:p>
          <a:p>
            <a:r>
              <a:rPr lang="zh-CN" altLang="en-US" dirty="0">
                <a:latin typeface="宋体" panose="02010600030101010101" pitchFamily="2" charset="-122"/>
                <a:ea typeface="宋体" panose="02010600030101010101" pitchFamily="2" charset="-122"/>
              </a:rPr>
              <a:t>要求识别不少于</a:t>
            </a:r>
            <a:r>
              <a:rPr lang="en-US" altLang="zh-CN" dirty="0">
                <a:latin typeface="宋体" panose="02010600030101010101" pitchFamily="2" charset="-122"/>
                <a:ea typeface="宋体" panose="02010600030101010101" pitchFamily="2" charset="-122"/>
              </a:rPr>
              <a:t>7</a:t>
            </a:r>
            <a:r>
              <a:rPr lang="zh-CN" altLang="en-US" dirty="0">
                <a:latin typeface="宋体" panose="02010600030101010101" pitchFamily="2" charset="-122"/>
                <a:ea typeface="宋体" panose="02010600030101010101" pitchFamily="2" charset="-122"/>
              </a:rPr>
              <a:t>种电器的通断状态，共</a:t>
            </a:r>
            <a:r>
              <a:rPr lang="en-US" altLang="zh-CN" dirty="0">
                <a:latin typeface="宋体" panose="02010600030101010101" pitchFamily="2" charset="-122"/>
                <a:ea typeface="宋体" panose="02010600030101010101" pitchFamily="2" charset="-122"/>
              </a:rPr>
              <a:t>128</a:t>
            </a:r>
            <a:r>
              <a:rPr lang="zh-CN" altLang="en-US" dirty="0">
                <a:latin typeface="宋体" panose="02010600030101010101" pitchFamily="2" charset="-122"/>
                <a:ea typeface="宋体" panose="02010600030101010101" pitchFamily="2" charset="-122"/>
              </a:rPr>
              <a:t>种状态组合，如果其中有特性相近的，就有一定难度。作为一个模式识别的题目，状态组合数越多，难度越高。在实用中，减少装置的监测种类是提高正确识别率的有效途径，因而有必要降低功耗和成本。</a:t>
            </a:r>
            <a:endParaRPr lang="en-US" altLang="zh-CN" dirty="0">
              <a:latin typeface="宋体" panose="02010600030101010101" pitchFamily="2" charset="-122"/>
              <a:ea typeface="宋体" panose="02010600030101010101" pitchFamily="2" charset="-122"/>
            </a:endParaRPr>
          </a:p>
          <a:p>
            <a:r>
              <a:rPr lang="zh-CN" altLang="zh-CN" sz="2800" kern="100" dirty="0">
                <a:solidFill>
                  <a:srgbClr val="000000"/>
                </a:solidFill>
                <a:effectLst/>
                <a:latin typeface="宋体" panose="02010600030101010101" pitchFamily="2" charset="-122"/>
                <a:ea typeface="宋体" panose="02010600030101010101" pitchFamily="2" charset="-122"/>
              </a:rPr>
              <a:t>无线传输到手机上显示的方式</a:t>
            </a:r>
            <a:r>
              <a:rPr lang="zh-CN" altLang="en-US" kern="100" dirty="0">
                <a:solidFill>
                  <a:srgbClr val="000000"/>
                </a:solidFill>
                <a:latin typeface="宋体" panose="02010600030101010101" pitchFamily="2" charset="-122"/>
                <a:ea typeface="宋体" panose="02010600030101010101" pitchFamily="2" charset="-122"/>
              </a:rPr>
              <a:t>也</a:t>
            </a:r>
            <a:r>
              <a:rPr lang="zh-CN" altLang="en-US" sz="2800" kern="100" dirty="0">
                <a:solidFill>
                  <a:srgbClr val="000000"/>
                </a:solidFill>
                <a:effectLst/>
                <a:latin typeface="宋体" panose="02010600030101010101" pitchFamily="2" charset="-122"/>
                <a:ea typeface="宋体" panose="02010600030101010101" pitchFamily="2" charset="-122"/>
              </a:rPr>
              <a:t>是出于使用方便，易于扩展多个装置的考虑，但没有作为必做的要求。（有参赛作品实现了这一要求，识别装置功耗极低。）</a:t>
            </a:r>
            <a:endParaRPr lang="en-US" altLang="zh-CN" dirty="0">
              <a:latin typeface="宋体" panose="02010600030101010101" pitchFamily="2" charset="-122"/>
              <a:ea typeface="宋体" panose="02010600030101010101" pitchFamily="2" charset="-122"/>
            </a:endParaRPr>
          </a:p>
          <a:p>
            <a:pPr marL="0" indent="0">
              <a:buNone/>
            </a:pPr>
            <a:endParaRPr lang="en-US" altLang="zh-CN" dirty="0">
              <a:latin typeface="+mn-ea"/>
            </a:endParaRPr>
          </a:p>
          <a:p>
            <a:endParaRPr lang="zh-CN" altLang="en-US" dirty="0"/>
          </a:p>
        </p:txBody>
      </p:sp>
    </p:spTree>
    <p:extLst>
      <p:ext uri="{BB962C8B-B14F-4D97-AF65-F5344CB8AC3E}">
        <p14:creationId xmlns:p14="http://schemas.microsoft.com/office/powerpoint/2010/main" val="1836545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D821C-474C-4CBE-8CAD-7D4C11C6FC25}"/>
              </a:ext>
            </a:extLst>
          </p:cNvPr>
          <p:cNvSpPr>
            <a:spLocks noGrp="1"/>
          </p:cNvSpPr>
          <p:nvPr>
            <p:ph type="title"/>
          </p:nvPr>
        </p:nvSpPr>
        <p:spPr/>
        <p:txBody>
          <a:bodyPr/>
          <a:lstStyle/>
          <a:p>
            <a:r>
              <a:rPr lang="zh-CN" altLang="en-US" dirty="0"/>
              <a:t>实现方案</a:t>
            </a:r>
            <a:r>
              <a:rPr lang="en-US" altLang="zh-CN" dirty="0"/>
              <a:t>1 </a:t>
            </a:r>
            <a:r>
              <a:rPr lang="zh-CN" altLang="en-US" sz="3600" dirty="0"/>
              <a:t>应用电参量测量芯片方案</a:t>
            </a:r>
          </a:p>
        </p:txBody>
      </p:sp>
      <p:sp>
        <p:nvSpPr>
          <p:cNvPr id="3" name="内容占位符 2">
            <a:extLst>
              <a:ext uri="{FF2B5EF4-FFF2-40B4-BE49-F238E27FC236}">
                <a16:creationId xmlns:a16="http://schemas.microsoft.com/office/drawing/2014/main" id="{34DDEF30-23FD-458F-BCCF-EED0708F0C20}"/>
              </a:ext>
            </a:extLst>
          </p:cNvPr>
          <p:cNvSpPr>
            <a:spLocks noGrp="1"/>
          </p:cNvSpPr>
          <p:nvPr>
            <p:ph idx="1"/>
          </p:nvPr>
        </p:nvSpPr>
        <p:spPr/>
        <p:txBody>
          <a:bodyPr/>
          <a:lstStyle/>
          <a:p>
            <a:r>
              <a:rPr lang="zh-CN" altLang="en-US" dirty="0"/>
              <a:t>这类芯片提供电流</a:t>
            </a:r>
            <a:r>
              <a:rPr lang="en-US" altLang="zh-CN" dirty="0"/>
              <a:t>、</a:t>
            </a:r>
            <a:r>
              <a:rPr lang="zh-CN" altLang="en-US" dirty="0"/>
              <a:t>电压</a:t>
            </a:r>
            <a:r>
              <a:rPr lang="en-US" altLang="zh-CN" dirty="0"/>
              <a:t>、</a:t>
            </a:r>
            <a:r>
              <a:rPr lang="zh-CN" altLang="en-US" dirty="0"/>
              <a:t>功率因数及相关的计算结果。</a:t>
            </a:r>
            <a:endParaRPr lang="en-US" altLang="zh-CN" dirty="0"/>
          </a:p>
          <a:p>
            <a:r>
              <a:rPr lang="zh-CN" altLang="en-US" dirty="0"/>
              <a:t>功率因数不是相位差的完全表达。</a:t>
            </a:r>
            <a:endParaRPr lang="en-US" altLang="zh-CN" dirty="0"/>
          </a:p>
          <a:p>
            <a:r>
              <a:rPr lang="zh-CN" altLang="en-US" dirty="0"/>
              <a:t>没有非线性成分的测量。</a:t>
            </a:r>
            <a:endParaRPr lang="en-US" altLang="zh-CN" dirty="0"/>
          </a:p>
          <a:p>
            <a:r>
              <a:rPr lang="zh-CN" altLang="en-US" dirty="0"/>
              <a:t>还需要</a:t>
            </a:r>
            <a:r>
              <a:rPr lang="en-US" altLang="zh-CN" dirty="0"/>
              <a:t>MCU</a:t>
            </a:r>
            <a:r>
              <a:rPr lang="zh-CN" altLang="en-US" dirty="0"/>
              <a:t>实现控制，数据采集处理和人机接口。</a:t>
            </a:r>
            <a:endParaRPr lang="en-US" altLang="zh-CN" dirty="0"/>
          </a:p>
          <a:p>
            <a:r>
              <a:rPr lang="zh-CN" altLang="en-US" dirty="0"/>
              <a:t>功耗和成本高于方案</a:t>
            </a:r>
            <a:r>
              <a:rPr lang="en-US" altLang="zh-CN" dirty="0"/>
              <a:t>2 </a:t>
            </a:r>
            <a:r>
              <a:rPr lang="zh-CN" altLang="en-US" dirty="0"/>
              <a:t>。</a:t>
            </a:r>
          </a:p>
        </p:txBody>
      </p:sp>
    </p:spTree>
    <p:extLst>
      <p:ext uri="{BB962C8B-B14F-4D97-AF65-F5344CB8AC3E}">
        <p14:creationId xmlns:p14="http://schemas.microsoft.com/office/powerpoint/2010/main" val="3064589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0BE385-23EC-41EA-8E5A-17E3E5B553FA}"/>
              </a:ext>
            </a:extLst>
          </p:cNvPr>
          <p:cNvSpPr>
            <a:spLocks noGrp="1"/>
          </p:cNvSpPr>
          <p:nvPr>
            <p:ph type="title"/>
          </p:nvPr>
        </p:nvSpPr>
        <p:spPr/>
        <p:txBody>
          <a:bodyPr/>
          <a:lstStyle/>
          <a:p>
            <a:r>
              <a:rPr lang="zh-CN" altLang="en-US" dirty="0"/>
              <a:t>实现方案</a:t>
            </a:r>
            <a:r>
              <a:rPr lang="en-US" altLang="zh-CN" dirty="0"/>
              <a:t>2 </a:t>
            </a:r>
            <a:r>
              <a:rPr lang="zh-CN" altLang="en-US" sz="3600" dirty="0"/>
              <a:t>应用</a:t>
            </a:r>
            <a:r>
              <a:rPr lang="en-US" altLang="zh-CN" sz="3600" dirty="0"/>
              <a:t>MCU</a:t>
            </a:r>
            <a:r>
              <a:rPr lang="zh-CN" altLang="en-US" sz="3600" dirty="0"/>
              <a:t>芯片方案</a:t>
            </a:r>
          </a:p>
        </p:txBody>
      </p:sp>
      <p:sp>
        <p:nvSpPr>
          <p:cNvPr id="3" name="内容占位符 2">
            <a:extLst>
              <a:ext uri="{FF2B5EF4-FFF2-40B4-BE49-F238E27FC236}">
                <a16:creationId xmlns:a16="http://schemas.microsoft.com/office/drawing/2014/main" id="{873AA9FE-F3AB-4099-BB0D-76A9270F8D93}"/>
              </a:ext>
            </a:extLst>
          </p:cNvPr>
          <p:cNvSpPr>
            <a:spLocks noGrp="1"/>
          </p:cNvSpPr>
          <p:nvPr>
            <p:ph idx="1"/>
          </p:nvPr>
        </p:nvSpPr>
        <p:spPr>
          <a:xfrm>
            <a:off x="838200" y="1820655"/>
            <a:ext cx="10515600" cy="4351338"/>
          </a:xfrm>
        </p:spPr>
        <p:txBody>
          <a:bodyPr/>
          <a:lstStyle/>
          <a:p>
            <a:r>
              <a:rPr lang="zh-CN" altLang="en-US" dirty="0"/>
              <a:t>例如 </a:t>
            </a:r>
            <a:r>
              <a:rPr lang="en-US" altLang="zh-CN" dirty="0"/>
              <a:t>MSP430</a:t>
            </a:r>
            <a:r>
              <a:rPr lang="zh-CN" altLang="en-US" dirty="0"/>
              <a:t>系列</a:t>
            </a:r>
            <a:r>
              <a:rPr lang="en-US" altLang="zh-CN" dirty="0"/>
              <a:t>MCU</a:t>
            </a:r>
            <a:r>
              <a:rPr lang="zh-CN" altLang="en-US" dirty="0"/>
              <a:t>（见下页）。</a:t>
            </a:r>
            <a:endParaRPr lang="en-US" altLang="zh-CN" dirty="0"/>
          </a:p>
          <a:p>
            <a:r>
              <a:rPr lang="zh-CN" altLang="en-US" dirty="0"/>
              <a:t>片上</a:t>
            </a:r>
            <a:r>
              <a:rPr lang="en-US" altLang="zh-CN" dirty="0"/>
              <a:t>AD</a:t>
            </a:r>
            <a:r>
              <a:rPr lang="zh-CN" altLang="en-US" dirty="0"/>
              <a:t>转换器达</a:t>
            </a:r>
            <a:r>
              <a:rPr lang="en-US" altLang="zh-CN" dirty="0"/>
              <a:t>100kSa/s </a:t>
            </a:r>
            <a:r>
              <a:rPr lang="zh-CN" altLang="en-US" dirty="0"/>
              <a:t>以上。</a:t>
            </a:r>
            <a:endParaRPr lang="en-US" altLang="zh-CN" dirty="0"/>
          </a:p>
          <a:p>
            <a:r>
              <a:rPr lang="zh-CN" altLang="en-US" dirty="0"/>
              <a:t>采样率高于需求</a:t>
            </a:r>
            <a:r>
              <a:rPr lang="en-US" altLang="zh-CN" dirty="0"/>
              <a:t>100</a:t>
            </a:r>
            <a:r>
              <a:rPr lang="zh-CN" altLang="en-US" dirty="0"/>
              <a:t>倍，可通过过采样技术提高精度</a:t>
            </a:r>
            <a:r>
              <a:rPr lang="en-US" altLang="zh-CN" dirty="0"/>
              <a:t>10</a:t>
            </a:r>
            <a:r>
              <a:rPr lang="zh-CN" altLang="en-US" dirty="0"/>
              <a:t>倍以上。</a:t>
            </a:r>
            <a:endParaRPr lang="en-US" altLang="zh-CN" dirty="0"/>
          </a:p>
          <a:p>
            <a:r>
              <a:rPr lang="zh-CN" altLang="en-US" dirty="0"/>
              <a:t>高精度波形采样，可从中提取所有需要的信息。</a:t>
            </a:r>
            <a:endParaRPr lang="en-US" altLang="zh-CN" dirty="0"/>
          </a:p>
          <a:p>
            <a:r>
              <a:rPr lang="zh-CN" altLang="en-US" dirty="0"/>
              <a:t>丰富的接口方式和开发环境，易于扩展功能。</a:t>
            </a:r>
            <a:endParaRPr lang="en-US" altLang="zh-CN" dirty="0"/>
          </a:p>
          <a:p>
            <a:r>
              <a:rPr lang="zh-CN" altLang="en-US" dirty="0"/>
              <a:t>增加无线通信功能可将人机接口完全转移至手机或其它智能终端。</a:t>
            </a:r>
            <a:endParaRPr lang="en-US" altLang="zh-CN" dirty="0"/>
          </a:p>
          <a:p>
            <a:r>
              <a:rPr lang="zh-CN" altLang="en-US" dirty="0"/>
              <a:t>计算负荷也可部分转移至手机，降低对</a:t>
            </a:r>
            <a:r>
              <a:rPr lang="en-US" altLang="zh-CN" dirty="0"/>
              <a:t>MCU</a:t>
            </a:r>
            <a:r>
              <a:rPr lang="zh-CN" altLang="en-US" dirty="0"/>
              <a:t>的计算能力要求。</a:t>
            </a:r>
            <a:endParaRPr lang="en-US" altLang="zh-CN" dirty="0"/>
          </a:p>
          <a:p>
            <a:r>
              <a:rPr lang="zh-CN" altLang="en-US" dirty="0"/>
              <a:t>易于实现低功耗，低成本，多装置共用终端。</a:t>
            </a:r>
            <a:endParaRPr lang="en-US" altLang="zh-CN" dirty="0"/>
          </a:p>
          <a:p>
            <a:endParaRPr lang="zh-CN" altLang="en-US" dirty="0"/>
          </a:p>
        </p:txBody>
      </p:sp>
    </p:spTree>
    <p:extLst>
      <p:ext uri="{BB962C8B-B14F-4D97-AF65-F5344CB8AC3E}">
        <p14:creationId xmlns:p14="http://schemas.microsoft.com/office/powerpoint/2010/main" val="613027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77DFF5-3037-4E7B-8B65-A7DF515B5499}"/>
              </a:ext>
            </a:extLst>
          </p:cNvPr>
          <p:cNvSpPr>
            <a:spLocks noGrp="1"/>
          </p:cNvSpPr>
          <p:nvPr>
            <p:ph type="title"/>
          </p:nvPr>
        </p:nvSpPr>
        <p:spPr>
          <a:xfrm>
            <a:off x="838200" y="556591"/>
            <a:ext cx="10515600" cy="1023731"/>
          </a:xfrm>
        </p:spPr>
        <p:txBody>
          <a:bodyPr>
            <a:normAutofit fontScale="90000"/>
          </a:bodyPr>
          <a:lstStyle/>
          <a:p>
            <a:r>
              <a:rPr lang="zh-CN" altLang="en-US" sz="4000" b="1" dirty="0"/>
              <a:t>电赛</a:t>
            </a:r>
            <a:r>
              <a:rPr lang="en-US" altLang="zh-CN" sz="4000" b="1" dirty="0"/>
              <a:t>TI</a:t>
            </a:r>
            <a:r>
              <a:rPr lang="zh-CN" altLang="en-US" sz="4000" b="1" dirty="0"/>
              <a:t>主要处理器 </a:t>
            </a:r>
            <a:r>
              <a:rPr lang="en-US" altLang="zh-CN" sz="4000" dirty="0">
                <a:latin typeface="宋体" panose="02010600030101010101" pitchFamily="2" charset="-122"/>
                <a:ea typeface="宋体" panose="02010600030101010101" pitchFamily="2" charset="-122"/>
              </a:rPr>
              <a:t>1</a:t>
            </a:r>
            <a:r>
              <a:rPr lang="zh-CN" altLang="en-US" sz="4000" dirty="0">
                <a:latin typeface="宋体" panose="02010600030101010101" pitchFamily="2" charset="-122"/>
                <a:ea typeface="宋体" panose="02010600030101010101" pitchFamily="2" charset="-122"/>
              </a:rPr>
              <a:t>、</a:t>
            </a:r>
            <a:r>
              <a:rPr lang="en-US" altLang="zh-CN" sz="4000" dirty="0">
                <a:latin typeface="宋体" panose="02010600030101010101" pitchFamily="2" charset="-122"/>
                <a:ea typeface="宋体" panose="02010600030101010101" pitchFamily="2" charset="-122"/>
              </a:rPr>
              <a:t>MSP430</a:t>
            </a:r>
            <a:r>
              <a:rPr lang="zh-CN" altLang="en-US" sz="4000" dirty="0">
                <a:latin typeface="宋体" panose="02010600030101010101" pitchFamily="2" charset="-122"/>
                <a:ea typeface="宋体" panose="02010600030101010101" pitchFamily="2" charset="-122"/>
              </a:rPr>
              <a:t>系列 （</a:t>
            </a:r>
            <a:r>
              <a:rPr lang="en-US" altLang="zh-CN" sz="4000" dirty="0">
                <a:latin typeface="宋体" panose="02010600030101010101" pitchFamily="2" charset="-122"/>
                <a:ea typeface="宋体" panose="02010600030101010101" pitchFamily="2" charset="-122"/>
              </a:rPr>
              <a:t>16bit/</a:t>
            </a:r>
            <a:r>
              <a:rPr lang="zh-CN" altLang="en-US" sz="4000" dirty="0">
                <a:latin typeface="宋体" panose="02010600030101010101" pitchFamily="2" charset="-122"/>
                <a:ea typeface="宋体" panose="02010600030101010101" pitchFamily="2" charset="-122"/>
              </a:rPr>
              <a:t>低功耗）</a:t>
            </a:r>
            <a:endParaRPr lang="zh-CN" altLang="en-US" b="1" dirty="0"/>
          </a:p>
        </p:txBody>
      </p:sp>
      <p:sp>
        <p:nvSpPr>
          <p:cNvPr id="3" name="内容占位符 2">
            <a:extLst>
              <a:ext uri="{FF2B5EF4-FFF2-40B4-BE49-F238E27FC236}">
                <a16:creationId xmlns:a16="http://schemas.microsoft.com/office/drawing/2014/main" id="{B18C6E95-231C-4D94-A91C-F067975BB1CE}"/>
              </a:ext>
            </a:extLst>
          </p:cNvPr>
          <p:cNvSpPr>
            <a:spLocks noGrp="1"/>
          </p:cNvSpPr>
          <p:nvPr>
            <p:ph idx="1"/>
          </p:nvPr>
        </p:nvSpPr>
        <p:spPr/>
        <p:txBody>
          <a:bodyPr>
            <a:normAutofit/>
          </a:bodyPr>
          <a:lstStyle/>
          <a:p>
            <a:r>
              <a:rPr lang="zh-CN" altLang="en-US" dirty="0">
                <a:latin typeface="宋体" panose="02010600030101010101" pitchFamily="2" charset="-122"/>
                <a:ea typeface="宋体" panose="02010600030101010101" pitchFamily="2" charset="-122"/>
              </a:rPr>
              <a:t>主频：</a:t>
            </a:r>
            <a:r>
              <a:rPr lang="en-US" altLang="zh-CN" dirty="0">
                <a:latin typeface="宋体" panose="02010600030101010101" pitchFamily="2" charset="-122"/>
                <a:ea typeface="宋体" panose="02010600030101010101" pitchFamily="2" charset="-122"/>
              </a:rPr>
              <a:t>25MHZ Max</a:t>
            </a:r>
          </a:p>
          <a:p>
            <a:r>
              <a:rPr lang="zh-CN" altLang="en-US" dirty="0">
                <a:latin typeface="宋体" panose="02010600030101010101" pitchFamily="2" charset="-122"/>
                <a:ea typeface="宋体" panose="02010600030101010101" pitchFamily="2" charset="-122"/>
              </a:rPr>
              <a:t>电压：</a:t>
            </a:r>
            <a:r>
              <a:rPr lang="en-US" altLang="zh-CN" dirty="0">
                <a:latin typeface="宋体" panose="02010600030101010101" pitchFamily="2" charset="-122"/>
                <a:ea typeface="宋体" panose="02010600030101010101" pitchFamily="2" charset="-122"/>
              </a:rPr>
              <a:t>1.8V-3.6V</a:t>
            </a:r>
          </a:p>
          <a:p>
            <a:r>
              <a:rPr lang="en-US" altLang="zh-CN" dirty="0">
                <a:latin typeface="宋体" panose="02010600030101010101" pitchFamily="2" charset="-122"/>
                <a:ea typeface="宋体" panose="02010600030101010101" pitchFamily="2" charset="-122"/>
              </a:rPr>
              <a:t>Flash: 128KB</a:t>
            </a:r>
          </a:p>
          <a:p>
            <a:r>
              <a:rPr lang="en-US" altLang="zh-CN" dirty="0">
                <a:latin typeface="宋体" panose="02010600030101010101" pitchFamily="2" charset="-122"/>
                <a:ea typeface="宋体" panose="02010600030101010101" pitchFamily="2" charset="-122"/>
              </a:rPr>
              <a:t>RAM: 8KB</a:t>
            </a:r>
          </a:p>
          <a:p>
            <a:r>
              <a:rPr lang="en-US" altLang="zh-CN" dirty="0">
                <a:latin typeface="宋体" panose="02010600030101010101" pitchFamily="2" charset="-122"/>
                <a:ea typeface="宋体" panose="02010600030101010101" pitchFamily="2" charset="-122"/>
              </a:rPr>
              <a:t>ADC: 12bit SAR/16</a:t>
            </a:r>
            <a:r>
              <a:rPr lang="zh-CN" altLang="en-US" dirty="0">
                <a:latin typeface="宋体" panose="02010600030101010101" pitchFamily="2" charset="-122"/>
                <a:ea typeface="宋体" panose="02010600030101010101" pitchFamily="2" charset="-122"/>
              </a:rPr>
              <a:t>通道</a:t>
            </a:r>
          </a:p>
          <a:p>
            <a:r>
              <a:rPr lang="en-US" altLang="zh-CN" dirty="0">
                <a:latin typeface="宋体" panose="02010600030101010101" pitchFamily="2" charset="-122"/>
                <a:ea typeface="宋体" panose="02010600030101010101" pitchFamily="2" charset="-122"/>
              </a:rPr>
              <a:t>Timer</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个 </a:t>
            </a:r>
            <a:r>
              <a:rPr lang="en-US" altLang="zh-CN" dirty="0">
                <a:latin typeface="宋体" panose="02010600030101010101" pitchFamily="2" charset="-122"/>
                <a:ea typeface="宋体" panose="02010600030101010101" pitchFamily="2" charset="-122"/>
              </a:rPr>
              <a:t>16bit</a:t>
            </a:r>
          </a:p>
          <a:p>
            <a:r>
              <a:rPr lang="en-US" altLang="zh-CN" dirty="0">
                <a:latin typeface="宋体" panose="02010600030101010101" pitchFamily="2" charset="-122"/>
                <a:ea typeface="宋体" panose="02010600030101010101" pitchFamily="2" charset="-122"/>
              </a:rPr>
              <a:t>USCI: SPI/I2C/UART</a:t>
            </a:r>
          </a:p>
          <a:p>
            <a:r>
              <a:rPr lang="zh-CN" altLang="en-US" dirty="0">
                <a:latin typeface="宋体" panose="02010600030101010101" pitchFamily="2" charset="-122"/>
                <a:ea typeface="宋体" panose="02010600030101010101" pitchFamily="2" charset="-122"/>
              </a:rPr>
              <a:t>低功耗：低到</a:t>
            </a:r>
            <a:r>
              <a:rPr lang="en-US" altLang="zh-CN" dirty="0">
                <a:latin typeface="宋体" panose="02010600030101010101" pitchFamily="2" charset="-122"/>
                <a:ea typeface="宋体" panose="02010600030101010101" pitchFamily="2" charset="-122"/>
              </a:rPr>
              <a:t>1.1uA</a:t>
            </a:r>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851082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DF595A-0981-40F0-88F7-FB7B8EB56FF1}"/>
              </a:ext>
            </a:extLst>
          </p:cNvPr>
          <p:cNvSpPr>
            <a:spLocks noGrp="1"/>
          </p:cNvSpPr>
          <p:nvPr>
            <p:ph type="title"/>
          </p:nvPr>
        </p:nvSpPr>
        <p:spPr/>
        <p:txBody>
          <a:bodyPr/>
          <a:lstStyle/>
          <a:p>
            <a:r>
              <a:rPr lang="zh-CN" altLang="en-US" dirty="0"/>
              <a:t>测评与竞赛策略</a:t>
            </a:r>
          </a:p>
        </p:txBody>
      </p:sp>
      <p:sp>
        <p:nvSpPr>
          <p:cNvPr id="3" name="内容占位符 2">
            <a:extLst>
              <a:ext uri="{FF2B5EF4-FFF2-40B4-BE49-F238E27FC236}">
                <a16:creationId xmlns:a16="http://schemas.microsoft.com/office/drawing/2014/main" id="{3332CAD6-E46A-4BDD-90FD-09A08C08B966}"/>
              </a:ext>
            </a:extLst>
          </p:cNvPr>
          <p:cNvSpPr>
            <a:spLocks noGrp="1"/>
          </p:cNvSpPr>
          <p:nvPr>
            <p:ph idx="1"/>
          </p:nvPr>
        </p:nvSpPr>
        <p:spPr/>
        <p:txBody>
          <a:bodyPr>
            <a:normAutofit lnSpcReduction="10000"/>
          </a:bodyPr>
          <a:lstStyle/>
          <a:p>
            <a:r>
              <a:rPr lang="zh-CN" altLang="en-US" dirty="0"/>
              <a:t>作为竞赛题目，不能完全按照实际需求制定题目要求和测评方法。</a:t>
            </a:r>
            <a:endParaRPr lang="en-US" altLang="zh-CN" dirty="0"/>
          </a:p>
          <a:p>
            <a:r>
              <a:rPr lang="zh-CN" altLang="en-US" dirty="0"/>
              <a:t>状态组合多，不可能进行全面测试。</a:t>
            </a:r>
            <a:endParaRPr lang="en-US" altLang="zh-CN" dirty="0"/>
          </a:p>
          <a:p>
            <a:r>
              <a:rPr lang="zh-CN" altLang="en-US" dirty="0"/>
              <a:t>基本要求部分为了满足“容易上手”的命题准则，测试用电器自定，故可选择易于区别的 类型，但需要满足动态范围和区分</a:t>
            </a:r>
            <a:r>
              <a:rPr lang="en-US" altLang="zh-CN" dirty="0"/>
              <a:t>2</a:t>
            </a:r>
            <a:r>
              <a:rPr lang="zh-CN" altLang="en-US" dirty="0"/>
              <a:t>件电流相同电器的的测试。</a:t>
            </a:r>
            <a:endParaRPr lang="en-US" altLang="zh-CN" dirty="0"/>
          </a:p>
          <a:p>
            <a:r>
              <a:rPr lang="zh-CN" altLang="en-US" dirty="0"/>
              <a:t>基本要求部分不需现场学习功能，可在竞赛期间测试自定义电器，将得到的经验数据保存。</a:t>
            </a:r>
            <a:endParaRPr lang="en-US" altLang="zh-CN" dirty="0"/>
          </a:p>
          <a:p>
            <a:r>
              <a:rPr lang="zh-CN" altLang="en-US" dirty="0"/>
              <a:t>识别算法和显示控制方式影响测评成绩。题目要求响应时间不大于</a:t>
            </a:r>
            <a:r>
              <a:rPr lang="en-US" altLang="zh-CN" dirty="0"/>
              <a:t>2</a:t>
            </a:r>
            <a:r>
              <a:rPr lang="zh-CN" altLang="en-US" dirty="0"/>
              <a:t>秒，充分利用这</a:t>
            </a:r>
            <a:r>
              <a:rPr lang="en-US" altLang="zh-CN" dirty="0"/>
              <a:t>2</a:t>
            </a:r>
            <a:r>
              <a:rPr lang="zh-CN" altLang="en-US" dirty="0"/>
              <a:t>秒的延迟，</a:t>
            </a:r>
            <a:r>
              <a:rPr lang="en-US" altLang="zh-CN" dirty="0"/>
              <a:t>2</a:t>
            </a:r>
            <a:r>
              <a:rPr lang="zh-CN" altLang="en-US" dirty="0"/>
              <a:t>秒的数据，以及控制显示的更新频率是非常重要的。</a:t>
            </a:r>
            <a:endParaRPr lang="en-US" altLang="zh-CN" dirty="0"/>
          </a:p>
          <a:p>
            <a:endParaRPr lang="zh-CN" altLang="en-US" dirty="0"/>
          </a:p>
        </p:txBody>
      </p:sp>
    </p:spTree>
    <p:extLst>
      <p:ext uri="{BB962C8B-B14F-4D97-AF65-F5344CB8AC3E}">
        <p14:creationId xmlns:p14="http://schemas.microsoft.com/office/powerpoint/2010/main" val="3219712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97760A-5F08-471B-8D58-FC94494856EF}"/>
              </a:ext>
            </a:extLst>
          </p:cNvPr>
          <p:cNvSpPr>
            <a:spLocks noGrp="1"/>
          </p:cNvSpPr>
          <p:nvPr>
            <p:ph type="title"/>
          </p:nvPr>
        </p:nvSpPr>
        <p:spPr/>
        <p:txBody>
          <a:bodyPr/>
          <a:lstStyle/>
          <a:p>
            <a:r>
              <a:rPr lang="zh-CN" altLang="en-US" dirty="0"/>
              <a:t>发挥部分的要求和测评</a:t>
            </a:r>
          </a:p>
        </p:txBody>
      </p:sp>
      <p:sp>
        <p:nvSpPr>
          <p:cNvPr id="3" name="内容占位符 2">
            <a:extLst>
              <a:ext uri="{FF2B5EF4-FFF2-40B4-BE49-F238E27FC236}">
                <a16:creationId xmlns:a16="http://schemas.microsoft.com/office/drawing/2014/main" id="{5F34C5F9-9BB6-456C-AE61-71A3AF8E6280}"/>
              </a:ext>
            </a:extLst>
          </p:cNvPr>
          <p:cNvSpPr>
            <a:spLocks noGrp="1"/>
          </p:cNvSpPr>
          <p:nvPr>
            <p:ph idx="1"/>
          </p:nvPr>
        </p:nvSpPr>
        <p:spPr/>
        <p:txBody>
          <a:bodyPr/>
          <a:lstStyle/>
          <a:p>
            <a:r>
              <a:rPr lang="zh-CN" altLang="en-US" dirty="0"/>
              <a:t>原定测试用电器由测评组统一提供，现场限时完成学习功能。但本届因多数赛区改在线上测试，未能实现完全相同的测试条件。</a:t>
            </a:r>
            <a:endParaRPr lang="en-US" altLang="zh-CN" dirty="0"/>
          </a:p>
          <a:p>
            <a:r>
              <a:rPr lang="zh-CN" altLang="en-US" dirty="0"/>
              <a:t>给定的</a:t>
            </a:r>
            <a:r>
              <a:rPr lang="en-US" altLang="zh-CN" dirty="0"/>
              <a:t>1</a:t>
            </a:r>
            <a:r>
              <a:rPr lang="zh-CN" altLang="en-US" dirty="0"/>
              <a:t>，</a:t>
            </a:r>
            <a:r>
              <a:rPr lang="en-US" altLang="zh-CN" dirty="0"/>
              <a:t>2</a:t>
            </a:r>
            <a:r>
              <a:rPr lang="zh-CN" altLang="en-US" dirty="0"/>
              <a:t>，</a:t>
            </a:r>
            <a:r>
              <a:rPr lang="en-US" altLang="zh-CN" dirty="0"/>
              <a:t>3</a:t>
            </a:r>
            <a:r>
              <a:rPr lang="zh-CN" altLang="en-US" dirty="0"/>
              <a:t>号测试用电器功率相同，特性不同。给定的</a:t>
            </a:r>
            <a:r>
              <a:rPr lang="en-US" altLang="zh-CN" dirty="0"/>
              <a:t>4</a:t>
            </a:r>
            <a:r>
              <a:rPr lang="zh-CN" altLang="en-US" dirty="0"/>
              <a:t>，</a:t>
            </a:r>
            <a:r>
              <a:rPr lang="en-US" altLang="zh-CN" dirty="0"/>
              <a:t>5</a:t>
            </a:r>
            <a:r>
              <a:rPr lang="zh-CN" altLang="en-US" dirty="0"/>
              <a:t>，</a:t>
            </a:r>
            <a:r>
              <a:rPr lang="en-US" altLang="zh-CN" dirty="0"/>
              <a:t>6</a:t>
            </a:r>
            <a:r>
              <a:rPr lang="zh-CN" altLang="en-US" dirty="0"/>
              <a:t>号测试用电器电流仅比要求的下限大</a:t>
            </a:r>
            <a:r>
              <a:rPr lang="en-US" altLang="zh-CN" dirty="0"/>
              <a:t>2mA</a:t>
            </a:r>
            <a:r>
              <a:rPr lang="zh-CN" altLang="en-US" dirty="0"/>
              <a:t>，且相同，仅电抗略有差别。这是为了检验作品区别</a:t>
            </a:r>
            <a:r>
              <a:rPr lang="zh-CN" altLang="zh-CN" sz="2800" kern="100" dirty="0">
                <a:solidFill>
                  <a:srgbClr val="000000"/>
                </a:solidFill>
                <a:effectLst/>
                <a:latin typeface="Times New Roman" panose="02020603050405020304" pitchFamily="18" charset="0"/>
                <a:ea typeface="宋体" panose="02010600030101010101" pitchFamily="2" charset="-122"/>
              </a:rPr>
              <a:t>电流相同，其他特性不同的电器的能力</a:t>
            </a:r>
            <a:r>
              <a:rPr lang="zh-CN" altLang="en-US" sz="2800" kern="100" dirty="0">
                <a:solidFill>
                  <a:srgbClr val="000000"/>
                </a:solidFill>
                <a:effectLst/>
                <a:latin typeface="Times New Roman" panose="02020603050405020304" pitchFamily="18" charset="0"/>
                <a:ea typeface="宋体" panose="02010600030101010101" pitchFamily="2" charset="-122"/>
              </a:rPr>
              <a:t>。但受限于</a:t>
            </a:r>
            <a:r>
              <a:rPr lang="zh-CN" altLang="en-US" dirty="0"/>
              <a:t>线上测试，未能实现完全相同的测试条件。</a:t>
            </a:r>
            <a:endParaRPr lang="en-US" altLang="zh-CN" dirty="0"/>
          </a:p>
          <a:p>
            <a:r>
              <a:rPr lang="zh-CN" altLang="en-US" dirty="0"/>
              <a:t>低功耗和无线终端显示占发挥部分</a:t>
            </a:r>
            <a:r>
              <a:rPr lang="en-US" altLang="zh-CN" dirty="0"/>
              <a:t>20%</a:t>
            </a:r>
            <a:r>
              <a:rPr lang="zh-CN" altLang="en-US" dirty="0"/>
              <a:t>的分数。</a:t>
            </a:r>
            <a:endParaRPr lang="en-US" altLang="zh-CN" dirty="0"/>
          </a:p>
          <a:p>
            <a:endParaRPr lang="en-US" altLang="zh-CN" dirty="0"/>
          </a:p>
          <a:p>
            <a:pPr marL="0" indent="0">
              <a:buNone/>
            </a:pPr>
            <a:endParaRPr lang="zh-CN" altLang="en-US" dirty="0"/>
          </a:p>
        </p:txBody>
      </p:sp>
    </p:spTree>
    <p:extLst>
      <p:ext uri="{BB962C8B-B14F-4D97-AF65-F5344CB8AC3E}">
        <p14:creationId xmlns:p14="http://schemas.microsoft.com/office/powerpoint/2010/main" val="4193259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63D3F2-0566-4D02-89E4-32FF067601C9}"/>
              </a:ext>
            </a:extLst>
          </p:cNvPr>
          <p:cNvSpPr>
            <a:spLocks noGrp="1"/>
          </p:cNvSpPr>
          <p:nvPr>
            <p:ph type="title"/>
          </p:nvPr>
        </p:nvSpPr>
        <p:spPr>
          <a:xfrm>
            <a:off x="3930404" y="365125"/>
            <a:ext cx="5243907" cy="5035392"/>
          </a:xfrm>
        </p:spPr>
        <p:txBody>
          <a:bodyPr>
            <a:normAutofit/>
          </a:bodyPr>
          <a:lstStyle/>
          <a:p>
            <a:r>
              <a:rPr lang="zh-CN" altLang="en-US" sz="8000" b="1" spc="50" dirty="0">
                <a:ln w="11430"/>
                <a:solidFill>
                  <a:srgbClr val="C00000"/>
                </a:solidFill>
                <a:effectLst>
                  <a:outerShdw blurRad="76200" dist="50800" dir="5400000" algn="tl" rotWithShape="0">
                    <a:srgbClr val="000000">
                      <a:alpha val="65000"/>
                    </a:srgbClr>
                  </a:outerShdw>
                </a:effectLst>
                <a:latin typeface="华文琥珀" pitchFamily="2" charset="-122"/>
                <a:ea typeface="华文琥珀" pitchFamily="2" charset="-122"/>
              </a:rPr>
              <a:t>谢谢大家</a:t>
            </a:r>
            <a:endParaRPr lang="zh-CN" altLang="en-US" sz="8000" dirty="0"/>
          </a:p>
        </p:txBody>
      </p:sp>
      <p:sp>
        <p:nvSpPr>
          <p:cNvPr id="3" name="内容占位符 2">
            <a:extLst>
              <a:ext uri="{FF2B5EF4-FFF2-40B4-BE49-F238E27FC236}">
                <a16:creationId xmlns:a16="http://schemas.microsoft.com/office/drawing/2014/main" id="{1DD9FDE6-19EE-4188-B981-B3493D693D37}"/>
              </a:ext>
            </a:extLst>
          </p:cNvPr>
          <p:cNvSpPr>
            <a:spLocks noGrp="1"/>
          </p:cNvSpPr>
          <p:nvPr>
            <p:ph idx="1"/>
          </p:nvPr>
        </p:nvSpPr>
        <p:spPr>
          <a:xfrm>
            <a:off x="1081114" y="6121139"/>
            <a:ext cx="10272686" cy="45719"/>
          </a:xfrm>
        </p:spPr>
        <p:txBody>
          <a:bodyPr>
            <a:normAutofit fontScale="25000" lnSpcReduction="20000"/>
          </a:bodyPr>
          <a:lstStyle/>
          <a:p>
            <a:r>
              <a:rPr lang="en-US" altLang="zh-CN" dirty="0"/>
              <a:t> </a:t>
            </a:r>
            <a:endParaRPr lang="zh-CN" altLang="en-US" dirty="0"/>
          </a:p>
        </p:txBody>
      </p:sp>
    </p:spTree>
    <p:extLst>
      <p:ext uri="{BB962C8B-B14F-4D97-AF65-F5344CB8AC3E}">
        <p14:creationId xmlns:p14="http://schemas.microsoft.com/office/powerpoint/2010/main" val="255460470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383</TotalTime>
  <Words>1092</Words>
  <Application>Microsoft Office PowerPoint</Application>
  <PresentationFormat>宽屏</PresentationFormat>
  <Paragraphs>67</Paragraphs>
  <Slides>13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等线</vt:lpstr>
      <vt:lpstr>等线 Light</vt:lpstr>
      <vt:lpstr>华文琥珀</vt:lpstr>
      <vt:lpstr>华文宋体</vt:lpstr>
      <vt:lpstr>华文中宋</vt:lpstr>
      <vt:lpstr>宋体</vt:lpstr>
      <vt:lpstr>Arial</vt:lpstr>
      <vt:lpstr>Times New Roman</vt:lpstr>
      <vt:lpstr>Office 主题​​</vt:lpstr>
      <vt:lpstr>“用电器分析识别装置”设计分析</vt:lpstr>
      <vt:lpstr> </vt:lpstr>
      <vt:lpstr>1. 基本要求</vt:lpstr>
      <vt:lpstr>2．发挥部分 </vt:lpstr>
      <vt:lpstr>可用的电流特征参量</vt:lpstr>
      <vt:lpstr>采样要求</vt:lpstr>
      <vt:lpstr>低功耗和其他要求</vt:lpstr>
      <vt:lpstr>实现方案1 应用电参量测量芯片方案</vt:lpstr>
      <vt:lpstr>实现方案2 应用MCU芯片方案</vt:lpstr>
      <vt:lpstr>电赛TI主要处理器 1、MSP430系列 （16bit/低功耗）</vt:lpstr>
      <vt:lpstr>测评与竞赛策略</vt:lpstr>
      <vt:lpstr>发挥部分的要求和测评</vt:lpstr>
      <vt:lpstr>谢谢大家</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“用电器分析识别装置”设计分析</dc:title>
  <dc:creator>zhengang zhao</dc:creator>
  <cp:lastModifiedBy>zhengang zhao</cp:lastModifiedBy>
  <cp:revision>40</cp:revision>
  <dcterms:created xsi:type="dcterms:W3CDTF">2022-01-23T03:05:51Z</dcterms:created>
  <dcterms:modified xsi:type="dcterms:W3CDTF">2022-01-28T01:49:22Z</dcterms:modified>
</cp:coreProperties>
</file>